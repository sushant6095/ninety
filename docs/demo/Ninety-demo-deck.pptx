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A live football exchange for the World Cup. You trade live win-probability on any match — priced by TxLINE's consensus feed, settled trustlessly on Solana. It's play money: a thousand free credits a match, no deposits, no payouts, ever. That constraint isn't a limitation — it's the whole strategy, and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billion people watch the World Cup and almost none of them participate. Scores apps are passive — you refresh a number. Sportsbooks are gated, licensed, predatory, and banned from most app stores. Prediction markets are built for traders, not fans. The gap is a live market a fan can actually play — with the drama of a real exchange and none of the money, the licences, or the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is one line: price is probability. Every outcome trades from zero to a hundred, and the price is the market's live read of the chance. Canada at 61.4 means the market rates them a 61.4% chance. A winning share settles at 100 credits — so buying below the true chance is the edge. You get a thousand free credits every match. An LMSR market maker means there's always a price and always liquidity. And notice the language: price, trade, credits. Never the other words. That's a deliberate product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ninety seconds that make the product. A goal goes in. TxLINE's signed feed carries it in milliseconds. The market halts — nobody gets to trade a price that's already dead. The engine re-anchors and the cliff lands on the chart. The spread decays as liquidity walks back in over sixty seconds. The Booth — our AI commentator — narrates the swing, quoting the real move. And at full time, Solana verifies TxLINE's cryptographic proof and settles it. Nobody is trusted at any point in that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board. Every live match, every price, one glance. Grouped by competition, sparklines on every row, the featured match with the Momentum River running live. This is real World Cup 2026 data — there is not a placeholder anywhere on this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Terminal — where you actually trade. The Momentum River is the hero of the screen: a live win-probability curve over ninety minutes, with the goal cliff marked. Buy or sell, see your cost, your average price, your maximum payout. Your position and P&amp;L on the right. And at the bottom, the Booth, calling the match. One surface,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Solana, and why TxLINE — because the alternative is asking you to trust us, and you shouldn't have to. Our Anchor program is the referee. settle_market is permissionless and one-shot, and it refuses to settle unless a TxLINE proof verifies on-chain by CPI. There is no admin key. There is no override. We could not cheat our own market if we wanted to. Solana's sub-second finality and sub-cent fees are what make per-match settlement economically possible at all. And TxLINE is the only feed where the price and the proof come from the same source — the data that moves the market is the data that proves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Seven layers, and one law that holds all of them together: every input becomes a signed event on a bus, and no service ever calls another service directly. TxLINE in. Ingest normalises with exactly-once guarantees and gap recovery. Cortex — that's Python — de-vigs the consensus odds into fair marks. The engine is the single writer of market state: LMSR pricing, journal-then-ack, fully replayable. The API serves the read model and the live tape. Solana settles. And the web renders. Eighty-one commits, fifty-three architecture decision records, four hundred and seven source files — in seven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built for a fan, not a quant. Wallet or no wallet — connect Phantom if you want, or just use email and a one-time code, and we derive a custodial key for you. You're trading in ten seconds, not ten minutes. Free mini-games running on the same live feed: pick the next goal, beat the market, fill the bracket — and the bracket is scored by an on-chain proof, not by us. Moments: the biggest swing of a match, rendered as a card you keep. And the whole tournament — forty-eight teams, sixteen stadiums, all hundred-and-four fixtures, through to the Final at MetLife on July nineteenth.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most demos skip. We tried to break our own settlement, and we succeeded. The sanctioned path selects the finalised score record off-chain, by sequence number. On-chain, validate_stat proves a stat leaf is in the Merkle root — but it never sees the record's Action field. So a caller can pick a mid-match sequence and produce a proof that verifies identically. Finality is asserted, not proven. Two independent adversarial audits found it. So we hard-gated settlement off — in the program itself — and raised it with TxODDS. We would rather be the team that found this than the team that shipped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days, one engineer, and an agent team. This wasn't vibe-coded — it was governed. The repo has a constitution: design law, architecture law, the play-money invariant — and git hooks that block a violating write before it lands. Specialist agents own specialist surfaces: engine-guardian on the trading core, proof-auditor on the Anchor program — that's the agent that found the settlement forge — design-cop judging every screen against a rubric. Fifty-three ADRs, because chat is not memory and a decision that isn't written down doesn't survive the next session. That discipline is the only reason seven days of work didn't collapse into mud.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Right now: finish the live wiring and have Ninety monitoring the World Cup Final on July nineteenth — real prices, real halts, real settlement. Next: prize money goes straight into infrastructure — managed Postgres and Redis, a Helius key, a Bubblegum tree so Moments mint on mainnet. Then: beyond football — TxODDS is multi-sport, and the engine, the bus and the proof path don't care what sport this is. The next tournament is a config change. And the moat: play-money is app-store safe and licence-free, which makes Ninety the clean top-of-funnel a sportsbook cannot legally build — and the one they'll want to partner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The market moves the moment the ball does. Priced by TxLINE, settled by Solana, free to play forever.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822960" y="1828800"/>
            <a:ext cx="7315200" cy="1371600"/>
          </a:xfrm>
          <a:prstGeom prst="rect">
            <a:avLst/>
          </a:prstGeom>
          <a:noFill/>
          <a:ln/>
        </p:spPr>
        <p:txBody>
          <a:bodyPr wrap="square" lIns="0" tIns="0" rIns="0" bIns="0" rtlCol="0" anchor="ctr"/>
          <a:lstStyle/>
          <a:p>
            <a:pPr indent="0" marL="0">
              <a:buNone/>
            </a:pPr>
            <a:r>
              <a:rPr lang="en-US" sz="9600" b="1" dirty="0">
                <a:solidFill>
                  <a:srgbClr val="F5F7FA"/>
                </a:solidFill>
                <a:latin typeface="Arial" pitchFamily="34" charset="0"/>
                <a:ea typeface="Arial" pitchFamily="34" charset="-122"/>
                <a:cs typeface="Arial" pitchFamily="34" charset="-120"/>
              </a:rPr>
              <a:t>Ninety</a:t>
            </a:r>
            <a:endParaRPr lang="en-US" sz="9600" dirty="0"/>
          </a:p>
        </p:txBody>
      </p:sp>
      <p:sp>
        <p:nvSpPr>
          <p:cNvPr id="3" name="Text 1"/>
          <p:cNvSpPr/>
          <p:nvPr/>
        </p:nvSpPr>
        <p:spPr>
          <a:xfrm>
            <a:off x="868680" y="3200400"/>
            <a:ext cx="8229600" cy="457200"/>
          </a:xfrm>
          <a:prstGeom prst="rect">
            <a:avLst/>
          </a:prstGeom>
          <a:noFill/>
          <a:ln/>
        </p:spPr>
        <p:txBody>
          <a:bodyPr wrap="square" lIns="0" tIns="0" rIns="0" bIns="0" rtlCol="0" anchor="ctr"/>
          <a:lstStyle/>
          <a:p>
            <a:pPr indent="0" marL="0">
              <a:buNone/>
            </a:pPr>
            <a:r>
              <a:rPr lang="en-US" sz="2400" dirty="0">
                <a:solidFill>
                  <a:srgbClr val="F5F7FA"/>
                </a:solidFill>
                <a:latin typeface="Arial" pitchFamily="34" charset="0"/>
                <a:ea typeface="Arial" pitchFamily="34" charset="-122"/>
                <a:cs typeface="Arial" pitchFamily="34" charset="-120"/>
              </a:rPr>
              <a:t>A live football exchange for the World Cup.</a:t>
            </a:r>
            <a:endParaRPr lang="en-US" sz="2400" dirty="0"/>
          </a:p>
        </p:txBody>
      </p:sp>
      <p:sp>
        <p:nvSpPr>
          <p:cNvPr id="4" name="Text 2"/>
          <p:cNvSpPr/>
          <p:nvPr/>
        </p:nvSpPr>
        <p:spPr>
          <a:xfrm>
            <a:off x="868680" y="3749040"/>
            <a:ext cx="8412480" cy="914400"/>
          </a:xfrm>
          <a:prstGeom prst="rect">
            <a:avLst/>
          </a:prstGeom>
          <a:noFill/>
          <a:ln/>
        </p:spPr>
        <p:txBody>
          <a:bodyPr wrap="square" lIns="0" tIns="0" rIns="0" bIns="0" rtlCol="0" anchor="ctr"/>
          <a:lstStyle/>
          <a:p>
            <a:pPr indent="0" marL="0">
              <a:lnSpc>
                <a:spcPts val="2200"/>
              </a:lnSpc>
              <a:buNone/>
            </a:pPr>
            <a:r>
              <a:rPr lang="en-US" sz="1400" dirty="0">
                <a:solidFill>
                  <a:srgbClr val="97A0AF"/>
                </a:solidFill>
                <a:latin typeface="Arial" pitchFamily="34" charset="0"/>
                <a:ea typeface="Arial" pitchFamily="34" charset="-122"/>
                <a:cs typeface="Arial" pitchFamily="34" charset="-120"/>
              </a:rPr>
              <a:t>Trade live win-probability on every match. Priced by TxLINE. Settled trustlessly on Solana.</a:t>
            </a:r>
            <a:endParaRPr lang="en-US" sz="1400" dirty="0"/>
          </a:p>
          <a:p>
            <a:pPr indent="0" marL="0">
              <a:lnSpc>
                <a:spcPts val="2200"/>
              </a:lnSpc>
              <a:buNone/>
            </a:pPr>
            <a:r>
              <a:rPr lang="en-US" sz="1400" dirty="0">
                <a:solidFill>
                  <a:srgbClr val="97A0AF"/>
                </a:solidFill>
                <a:latin typeface="Arial" pitchFamily="34" charset="0"/>
                <a:ea typeface="Arial" pitchFamily="34" charset="-122"/>
                <a:cs typeface="Arial" pitchFamily="34" charset="-120"/>
              </a:rPr>
              <a:t>Play-money — 1,000 free credits a match. No deposits. No payouts. Ever.</a:t>
            </a:r>
            <a:endParaRPr lang="en-US" sz="1400" dirty="0"/>
          </a:p>
        </p:txBody>
      </p:sp>
      <p:sp>
        <p:nvSpPr>
          <p:cNvPr id="5" name="Shape 3"/>
          <p:cNvSpPr/>
          <p:nvPr/>
        </p:nvSpPr>
        <p:spPr>
          <a:xfrm>
            <a:off x="868680" y="5029200"/>
            <a:ext cx="1371600" cy="292608"/>
          </a:xfrm>
          <a:prstGeom prst="roundRect">
            <a:avLst>
              <a:gd name="adj" fmla="val 50000"/>
            </a:avLst>
          </a:prstGeom>
          <a:solidFill>
            <a:srgbClr val="14171C"/>
          </a:solidFill>
          <a:ln w="12700">
            <a:solidFill>
              <a:srgbClr val="9D6BFF"/>
            </a:solidFill>
            <a:prstDash val="solid"/>
          </a:ln>
        </p:spPr>
      </p:sp>
      <p:sp>
        <p:nvSpPr>
          <p:cNvPr id="6" name="Text 4"/>
          <p:cNvSpPr/>
          <p:nvPr/>
        </p:nvSpPr>
        <p:spPr>
          <a:xfrm>
            <a:off x="868680" y="5029200"/>
            <a:ext cx="1371600" cy="292608"/>
          </a:xfrm>
          <a:prstGeom prst="rect">
            <a:avLst/>
          </a:prstGeom>
          <a:noFill/>
          <a:ln/>
        </p:spPr>
        <p:txBody>
          <a:bodyPr wrap="square" lIns="0" tIns="0" rIns="0" bIns="0" rtlCol="0" anchor="ctr"/>
          <a:lstStyle/>
          <a:p>
            <a:pPr algn="ctr" indent="0" marL="0">
              <a:buNone/>
            </a:pPr>
            <a:r>
              <a:rPr lang="en-US" sz="1000" b="1" spc="100" kern="0" dirty="0">
                <a:solidFill>
                  <a:srgbClr val="9D6BFF"/>
                </a:solidFill>
                <a:latin typeface="Courier New" pitchFamily="34" charset="0"/>
                <a:ea typeface="Courier New" pitchFamily="34" charset="-122"/>
                <a:cs typeface="Courier New" pitchFamily="34" charset="-120"/>
              </a:rPr>
              <a:t>SOLANA</a:t>
            </a:r>
            <a:endParaRPr lang="en-US" sz="1000" dirty="0"/>
          </a:p>
        </p:txBody>
      </p:sp>
      <p:sp>
        <p:nvSpPr>
          <p:cNvPr id="7" name="Shape 5"/>
          <p:cNvSpPr/>
          <p:nvPr/>
        </p:nvSpPr>
        <p:spPr>
          <a:xfrm>
            <a:off x="2377440" y="5029200"/>
            <a:ext cx="1371600" cy="292608"/>
          </a:xfrm>
          <a:prstGeom prst="roundRect">
            <a:avLst>
              <a:gd name="adj" fmla="val 50000"/>
            </a:avLst>
          </a:prstGeom>
          <a:solidFill>
            <a:srgbClr val="14171C"/>
          </a:solidFill>
          <a:ln w="12700">
            <a:solidFill>
              <a:srgbClr val="2BD97C"/>
            </a:solidFill>
            <a:prstDash val="solid"/>
          </a:ln>
        </p:spPr>
      </p:sp>
      <p:sp>
        <p:nvSpPr>
          <p:cNvPr id="8" name="Text 6"/>
          <p:cNvSpPr/>
          <p:nvPr/>
        </p:nvSpPr>
        <p:spPr>
          <a:xfrm>
            <a:off x="2377440" y="5029200"/>
            <a:ext cx="1371600" cy="292608"/>
          </a:xfrm>
          <a:prstGeom prst="rect">
            <a:avLst/>
          </a:prstGeom>
          <a:noFill/>
          <a:ln/>
        </p:spPr>
        <p:txBody>
          <a:bodyPr wrap="square" lIns="0" tIns="0" rIns="0" bIns="0" rtlCol="0" anchor="ctr"/>
          <a:lstStyle/>
          <a:p>
            <a:pPr algn="ctr" indent="0" marL="0">
              <a:buNone/>
            </a:pPr>
            <a:r>
              <a:rPr lang="en-US" sz="1000" b="1" spc="100" kern="0" dirty="0">
                <a:solidFill>
                  <a:srgbClr val="2BD97C"/>
                </a:solidFill>
                <a:latin typeface="Courier New" pitchFamily="34" charset="0"/>
                <a:ea typeface="Courier New" pitchFamily="34" charset="-122"/>
                <a:cs typeface="Courier New" pitchFamily="34" charset="-120"/>
              </a:rPr>
              <a:t>TxLINE</a:t>
            </a:r>
            <a:endParaRPr lang="en-US" sz="1000" dirty="0"/>
          </a:p>
        </p:txBody>
      </p:sp>
      <p:sp>
        <p:nvSpPr>
          <p:cNvPr id="9" name="Shape 7"/>
          <p:cNvSpPr/>
          <p:nvPr/>
        </p:nvSpPr>
        <p:spPr>
          <a:xfrm>
            <a:off x="3886200" y="5029200"/>
            <a:ext cx="1371600" cy="292608"/>
          </a:xfrm>
          <a:prstGeom prst="roundRect">
            <a:avLst>
              <a:gd name="adj" fmla="val 50000"/>
            </a:avLst>
          </a:prstGeom>
          <a:solidFill>
            <a:srgbClr val="14171C"/>
          </a:solidFill>
          <a:ln w="12700">
            <a:solidFill>
              <a:srgbClr val="F5F7FA"/>
            </a:solidFill>
            <a:prstDash val="solid"/>
          </a:ln>
        </p:spPr>
      </p:sp>
      <p:sp>
        <p:nvSpPr>
          <p:cNvPr id="10" name="Text 8"/>
          <p:cNvSpPr/>
          <p:nvPr/>
        </p:nvSpPr>
        <p:spPr>
          <a:xfrm>
            <a:off x="3886200" y="5029200"/>
            <a:ext cx="1371600" cy="292608"/>
          </a:xfrm>
          <a:prstGeom prst="rect">
            <a:avLst/>
          </a:prstGeom>
          <a:noFill/>
          <a:ln/>
        </p:spPr>
        <p:txBody>
          <a:bodyPr wrap="square" lIns="0" tIns="0" rIns="0" bIns="0" rtlCol="0" anchor="ctr"/>
          <a:lstStyle/>
          <a:p>
            <a:pPr algn="ctr" indent="0" marL="0">
              <a:buNone/>
            </a:pPr>
            <a:r>
              <a:rPr lang="en-US" sz="1000" b="1" spc="100" kern="0" dirty="0">
                <a:solidFill>
                  <a:srgbClr val="F5F7FA"/>
                </a:solidFill>
                <a:latin typeface="Courier New" pitchFamily="34" charset="0"/>
                <a:ea typeface="Courier New" pitchFamily="34" charset="-122"/>
                <a:cs typeface="Courier New" pitchFamily="34" charset="-120"/>
              </a:rPr>
              <a:t>PLAY-MONEY</a:t>
            </a:r>
            <a:endParaRPr lang="en-US" sz="1000" dirty="0"/>
          </a:p>
        </p:txBody>
      </p:sp>
      <p:sp>
        <p:nvSpPr>
          <p:cNvPr id="11" name="Text 9"/>
          <p:cNvSpPr/>
          <p:nvPr/>
        </p:nvSpPr>
        <p:spPr>
          <a:xfrm>
            <a:off x="9692640" y="1920240"/>
            <a:ext cx="1828800" cy="457200"/>
          </a:xfrm>
          <a:prstGeom prst="rect">
            <a:avLst/>
          </a:prstGeom>
          <a:noFill/>
          <a:ln/>
        </p:spPr>
        <p:txBody>
          <a:bodyPr wrap="square" lIns="0" tIns="0" rIns="0" bIns="0" rtlCol="0" anchor="ctr"/>
          <a:lstStyle/>
          <a:p>
            <a:pPr algn="r" indent="0" marL="0">
              <a:buNone/>
            </a:pPr>
            <a:r>
              <a:rPr lang="en-US" sz="1400" b="1" dirty="0">
                <a:solidFill>
                  <a:srgbClr val="97A0AF"/>
                </a:solidFill>
                <a:latin typeface="Courier New" pitchFamily="34" charset="0"/>
                <a:ea typeface="Courier New" pitchFamily="34" charset="-122"/>
                <a:cs typeface="Courier New" pitchFamily="34" charset="-120"/>
              </a:rPr>
              <a:t>WC26</a:t>
            </a:r>
            <a:endParaRPr lang="en-US" sz="1400" dirty="0"/>
          </a:p>
        </p:txBody>
      </p:sp>
      <p:sp>
        <p:nvSpPr>
          <p:cNvPr id="12" name="Text 10"/>
          <p:cNvSpPr/>
          <p:nvPr/>
        </p:nvSpPr>
        <p:spPr>
          <a:xfrm>
            <a:off x="8321040" y="2286000"/>
            <a:ext cx="3200400" cy="1280160"/>
          </a:xfrm>
          <a:prstGeom prst="rect">
            <a:avLst/>
          </a:prstGeom>
          <a:noFill/>
          <a:ln/>
        </p:spPr>
        <p:txBody>
          <a:bodyPr wrap="square" lIns="0" tIns="0" rIns="0" bIns="0" rtlCol="0" anchor="ctr"/>
          <a:lstStyle/>
          <a:p>
            <a:pPr algn="r" indent="0" marL="0">
              <a:buNone/>
            </a:pPr>
            <a:r>
              <a:rPr lang="en-US" sz="8000" b="1" dirty="0">
                <a:solidFill>
                  <a:srgbClr val="2BD97C"/>
                </a:solidFill>
                <a:latin typeface="Courier New" pitchFamily="34" charset="0"/>
                <a:ea typeface="Courier New" pitchFamily="34" charset="-122"/>
                <a:cs typeface="Courier New" pitchFamily="34" charset="-120"/>
              </a:rPr>
              <a:t>61.4</a:t>
            </a:r>
            <a:endParaRPr lang="en-US" sz="8000" dirty="0"/>
          </a:p>
        </p:txBody>
      </p:sp>
      <p:sp>
        <p:nvSpPr>
          <p:cNvPr id="13" name="Text 11"/>
          <p:cNvSpPr/>
          <p:nvPr/>
        </p:nvSpPr>
        <p:spPr>
          <a:xfrm>
            <a:off x="7863840" y="3566160"/>
            <a:ext cx="3657600" cy="365760"/>
          </a:xfrm>
          <a:prstGeom prst="rect">
            <a:avLst/>
          </a:prstGeom>
          <a:noFill/>
          <a:ln/>
        </p:spPr>
        <p:txBody>
          <a:bodyPr wrap="square" lIns="0" tIns="0" rIns="0" bIns="0" rtlCol="0" anchor="ctr"/>
          <a:lstStyle/>
          <a:p>
            <a:pPr algn="r" indent="0" marL="0">
              <a:buNone/>
            </a:pPr>
            <a:r>
              <a:rPr lang="en-US" sz="1200" dirty="0">
                <a:solidFill>
                  <a:srgbClr val="97A0AF"/>
                </a:solidFill>
                <a:latin typeface="Courier New" pitchFamily="34" charset="0"/>
                <a:ea typeface="Courier New" pitchFamily="34" charset="-122"/>
                <a:cs typeface="Courier New" pitchFamily="34" charset="-120"/>
              </a:rPr>
              <a:t>CAN — MAR  ·  74'  ·  HOME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A billion watch. Almost none play.</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The World Cup is the largest shared live event on earth — and the audience just sits there.</a:t>
            </a:r>
            <a:endParaRPr lang="en-US" sz="1500" dirty="0"/>
          </a:p>
        </p:txBody>
      </p:sp>
      <p:sp>
        <p:nvSpPr>
          <p:cNvPr id="4" name="Shape 2"/>
          <p:cNvSpPr/>
          <p:nvPr/>
        </p:nvSpPr>
        <p:spPr>
          <a:xfrm>
            <a:off x="640080" y="2103120"/>
            <a:ext cx="3429000" cy="2103120"/>
          </a:xfrm>
          <a:prstGeom prst="roundRect">
            <a:avLst>
              <a:gd name="adj" fmla="val 3478"/>
            </a:avLst>
          </a:prstGeom>
          <a:solidFill>
            <a:srgbClr val="14171C"/>
          </a:solidFill>
          <a:ln w="12700">
            <a:solidFill>
              <a:srgbClr val="232A33"/>
            </a:solidFill>
            <a:prstDash val="solid"/>
          </a:ln>
        </p:spPr>
      </p:sp>
      <p:sp>
        <p:nvSpPr>
          <p:cNvPr id="5" name="Text 3"/>
          <p:cNvSpPr/>
          <p:nvPr/>
        </p:nvSpPr>
        <p:spPr>
          <a:xfrm>
            <a:off x="914400" y="2377440"/>
            <a:ext cx="2926080" cy="365760"/>
          </a:xfrm>
          <a:prstGeom prst="rect">
            <a:avLst/>
          </a:prstGeom>
          <a:noFill/>
          <a:ln/>
        </p:spPr>
        <p:txBody>
          <a:bodyPr wrap="square" lIns="0" tIns="0" rIns="0" bIns="0" rtlCol="0" anchor="ctr"/>
          <a:lstStyle/>
          <a:p>
            <a:pPr indent="0" marL="0">
              <a:buNone/>
            </a:pPr>
            <a:r>
              <a:rPr lang="en-US" sz="1800" b="1" dirty="0">
                <a:solidFill>
                  <a:srgbClr val="97A0AF"/>
                </a:solidFill>
                <a:latin typeface="Arial" pitchFamily="34" charset="0"/>
                <a:ea typeface="Arial" pitchFamily="34" charset="-122"/>
                <a:cs typeface="Arial" pitchFamily="34" charset="-120"/>
              </a:rPr>
              <a:t>Scores apps</a:t>
            </a:r>
            <a:endParaRPr lang="en-US" sz="1800" dirty="0"/>
          </a:p>
        </p:txBody>
      </p:sp>
      <p:sp>
        <p:nvSpPr>
          <p:cNvPr id="6" name="Text 4"/>
          <p:cNvSpPr/>
          <p:nvPr/>
        </p:nvSpPr>
        <p:spPr>
          <a:xfrm>
            <a:off x="914400" y="2834640"/>
            <a:ext cx="2926080" cy="1188720"/>
          </a:xfrm>
          <a:prstGeom prst="rect">
            <a:avLst/>
          </a:prstGeom>
          <a:noFill/>
          <a:ln/>
        </p:spPr>
        <p:txBody>
          <a:bodyPr wrap="square" lIns="0" tIns="0" rIns="0" bIns="0" rtlCol="0" anchor="ctr"/>
          <a:lstStyle/>
          <a:p>
            <a:pPr indent="0" marL="0">
              <a:lnSpc>
                <a:spcPts val="2000"/>
              </a:lnSpc>
              <a:buNone/>
            </a:pPr>
            <a:r>
              <a:rPr lang="en-US" sz="1300" dirty="0">
                <a:solidFill>
                  <a:srgbClr val="97A0AF"/>
                </a:solidFill>
                <a:latin typeface="Arial" pitchFamily="34" charset="0"/>
                <a:ea typeface="Arial" pitchFamily="34" charset="-122"/>
                <a:cs typeface="Arial" pitchFamily="34" charset="-120"/>
              </a:rPr>
              <a:t>Passive. You refresh a number. Nothing you do changes anything.</a:t>
            </a:r>
            <a:endParaRPr lang="en-US" sz="1300" dirty="0"/>
          </a:p>
        </p:txBody>
      </p:sp>
      <p:sp>
        <p:nvSpPr>
          <p:cNvPr id="7" name="Shape 5"/>
          <p:cNvSpPr/>
          <p:nvPr/>
        </p:nvSpPr>
        <p:spPr>
          <a:xfrm>
            <a:off x="4343400" y="2103120"/>
            <a:ext cx="3429000" cy="2103120"/>
          </a:xfrm>
          <a:prstGeom prst="roundRect">
            <a:avLst>
              <a:gd name="adj" fmla="val 3478"/>
            </a:avLst>
          </a:prstGeom>
          <a:solidFill>
            <a:srgbClr val="14171C"/>
          </a:solidFill>
          <a:ln w="12700">
            <a:solidFill>
              <a:srgbClr val="232A33"/>
            </a:solidFill>
            <a:prstDash val="solid"/>
          </a:ln>
        </p:spPr>
      </p:sp>
      <p:sp>
        <p:nvSpPr>
          <p:cNvPr id="8" name="Text 6"/>
          <p:cNvSpPr/>
          <p:nvPr/>
        </p:nvSpPr>
        <p:spPr>
          <a:xfrm>
            <a:off x="4617720" y="2377440"/>
            <a:ext cx="2926080" cy="365760"/>
          </a:xfrm>
          <a:prstGeom prst="rect">
            <a:avLst/>
          </a:prstGeom>
          <a:noFill/>
          <a:ln/>
        </p:spPr>
        <p:txBody>
          <a:bodyPr wrap="square" lIns="0" tIns="0" rIns="0" bIns="0" rtlCol="0" anchor="ctr"/>
          <a:lstStyle/>
          <a:p>
            <a:pPr indent="0" marL="0">
              <a:buNone/>
            </a:pPr>
            <a:r>
              <a:rPr lang="en-US" sz="1800" b="1" dirty="0">
                <a:solidFill>
                  <a:srgbClr val="FF3D81"/>
                </a:solidFill>
                <a:latin typeface="Arial" pitchFamily="34" charset="0"/>
                <a:ea typeface="Arial" pitchFamily="34" charset="-122"/>
                <a:cs typeface="Arial" pitchFamily="34" charset="-120"/>
              </a:rPr>
              <a:t>Sportsbooks</a:t>
            </a:r>
            <a:endParaRPr lang="en-US" sz="1800" dirty="0"/>
          </a:p>
        </p:txBody>
      </p:sp>
      <p:sp>
        <p:nvSpPr>
          <p:cNvPr id="9" name="Text 7"/>
          <p:cNvSpPr/>
          <p:nvPr/>
        </p:nvSpPr>
        <p:spPr>
          <a:xfrm>
            <a:off x="4617720" y="2834640"/>
            <a:ext cx="2926080" cy="1188720"/>
          </a:xfrm>
          <a:prstGeom prst="rect">
            <a:avLst/>
          </a:prstGeom>
          <a:noFill/>
          <a:ln/>
        </p:spPr>
        <p:txBody>
          <a:bodyPr wrap="square" lIns="0" tIns="0" rIns="0" bIns="0" rtlCol="0" anchor="ctr"/>
          <a:lstStyle/>
          <a:p>
            <a:pPr indent="0" marL="0">
              <a:lnSpc>
                <a:spcPts val="2000"/>
              </a:lnSpc>
              <a:buNone/>
            </a:pPr>
            <a:r>
              <a:rPr lang="en-US" sz="1300" dirty="0">
                <a:solidFill>
                  <a:srgbClr val="97A0AF"/>
                </a:solidFill>
                <a:latin typeface="Arial" pitchFamily="34" charset="0"/>
                <a:ea typeface="Arial" pitchFamily="34" charset="-122"/>
                <a:cs typeface="Arial" pitchFamily="34" charset="-120"/>
              </a:rPr>
              <a:t>Gated, licensed, predatory, and banned from most app stores. Most fans can't or won't.</a:t>
            </a:r>
            <a:endParaRPr lang="en-US" sz="1300" dirty="0"/>
          </a:p>
        </p:txBody>
      </p:sp>
      <p:sp>
        <p:nvSpPr>
          <p:cNvPr id="10" name="Shape 8"/>
          <p:cNvSpPr/>
          <p:nvPr/>
        </p:nvSpPr>
        <p:spPr>
          <a:xfrm>
            <a:off x="8046720" y="2103120"/>
            <a:ext cx="3429000" cy="2103120"/>
          </a:xfrm>
          <a:prstGeom prst="roundRect">
            <a:avLst>
              <a:gd name="adj" fmla="val 3478"/>
            </a:avLst>
          </a:prstGeom>
          <a:solidFill>
            <a:srgbClr val="14171C"/>
          </a:solidFill>
          <a:ln w="12700">
            <a:solidFill>
              <a:srgbClr val="232A33"/>
            </a:solidFill>
            <a:prstDash val="solid"/>
          </a:ln>
        </p:spPr>
      </p:sp>
      <p:sp>
        <p:nvSpPr>
          <p:cNvPr id="11" name="Text 9"/>
          <p:cNvSpPr/>
          <p:nvPr/>
        </p:nvSpPr>
        <p:spPr>
          <a:xfrm>
            <a:off x="8321040" y="2377440"/>
            <a:ext cx="2926080" cy="365760"/>
          </a:xfrm>
          <a:prstGeom prst="rect">
            <a:avLst/>
          </a:prstGeom>
          <a:noFill/>
          <a:ln/>
        </p:spPr>
        <p:txBody>
          <a:bodyPr wrap="square" lIns="0" tIns="0" rIns="0" bIns="0" rtlCol="0" anchor="ctr"/>
          <a:lstStyle/>
          <a:p>
            <a:pPr indent="0" marL="0">
              <a:buNone/>
            </a:pPr>
            <a:r>
              <a:rPr lang="en-US" sz="1800" b="1" dirty="0">
                <a:solidFill>
                  <a:srgbClr val="97A0AF"/>
                </a:solidFill>
                <a:latin typeface="Arial" pitchFamily="34" charset="0"/>
                <a:ea typeface="Arial" pitchFamily="34" charset="-122"/>
                <a:cs typeface="Arial" pitchFamily="34" charset="-120"/>
              </a:rPr>
              <a:t>Prediction markets</a:t>
            </a:r>
            <a:endParaRPr lang="en-US" sz="1800" dirty="0"/>
          </a:p>
        </p:txBody>
      </p:sp>
      <p:sp>
        <p:nvSpPr>
          <p:cNvPr id="12" name="Text 10"/>
          <p:cNvSpPr/>
          <p:nvPr/>
        </p:nvSpPr>
        <p:spPr>
          <a:xfrm>
            <a:off x="8321040" y="2834640"/>
            <a:ext cx="2926080" cy="1188720"/>
          </a:xfrm>
          <a:prstGeom prst="rect">
            <a:avLst/>
          </a:prstGeom>
          <a:noFill/>
          <a:ln/>
        </p:spPr>
        <p:txBody>
          <a:bodyPr wrap="square" lIns="0" tIns="0" rIns="0" bIns="0" rtlCol="0" anchor="ctr"/>
          <a:lstStyle/>
          <a:p>
            <a:pPr indent="0" marL="0">
              <a:lnSpc>
                <a:spcPts val="2000"/>
              </a:lnSpc>
              <a:buNone/>
            </a:pPr>
            <a:r>
              <a:rPr lang="en-US" sz="1300" dirty="0">
                <a:solidFill>
                  <a:srgbClr val="97A0AF"/>
                </a:solidFill>
                <a:latin typeface="Arial" pitchFamily="34" charset="0"/>
                <a:ea typeface="Arial" pitchFamily="34" charset="-122"/>
                <a:cs typeface="Arial" pitchFamily="34" charset="-120"/>
              </a:rPr>
              <a:t>Built for traders, not fans. Cold, sparse, and nobody's watching the match.</a:t>
            </a:r>
            <a:endParaRPr lang="en-US" sz="1300" dirty="0"/>
          </a:p>
        </p:txBody>
      </p:sp>
      <p:sp>
        <p:nvSpPr>
          <p:cNvPr id="13" name="Shape 11"/>
          <p:cNvSpPr/>
          <p:nvPr/>
        </p:nvSpPr>
        <p:spPr>
          <a:xfrm>
            <a:off x="640080" y="4617720"/>
            <a:ext cx="10881360" cy="1371600"/>
          </a:xfrm>
          <a:prstGeom prst="roundRect">
            <a:avLst>
              <a:gd name="adj" fmla="val 5333"/>
            </a:avLst>
          </a:prstGeom>
          <a:solidFill>
            <a:srgbClr val="14171C"/>
          </a:solidFill>
          <a:ln w="12700">
            <a:solidFill>
              <a:srgbClr val="2BD97C"/>
            </a:solidFill>
            <a:prstDash val="solid"/>
          </a:ln>
        </p:spPr>
      </p:sp>
      <p:sp>
        <p:nvSpPr>
          <p:cNvPr id="14" name="Text 12"/>
          <p:cNvSpPr/>
          <p:nvPr/>
        </p:nvSpPr>
        <p:spPr>
          <a:xfrm>
            <a:off x="914400" y="4800600"/>
            <a:ext cx="1828800" cy="320040"/>
          </a:xfrm>
          <a:prstGeom prst="rect">
            <a:avLst/>
          </a:prstGeom>
          <a:noFill/>
          <a:ln/>
        </p:spPr>
        <p:txBody>
          <a:bodyPr wrap="square" lIns="0" tIns="0" rIns="0" bIns="0" rtlCol="0" anchor="ctr"/>
          <a:lstStyle/>
          <a:p>
            <a:pPr indent="0" marL="0">
              <a:buNone/>
            </a:pPr>
            <a:r>
              <a:rPr lang="en-US" sz="1200" b="1" spc="100" kern="0" dirty="0">
                <a:solidFill>
                  <a:srgbClr val="2BD97C"/>
                </a:solidFill>
                <a:latin typeface="Courier New" pitchFamily="34" charset="0"/>
                <a:ea typeface="Courier New" pitchFamily="34" charset="-122"/>
                <a:cs typeface="Courier New" pitchFamily="34" charset="-120"/>
              </a:rPr>
              <a:t>The gap</a:t>
            </a:r>
            <a:endParaRPr lang="en-US" sz="1200" dirty="0"/>
          </a:p>
        </p:txBody>
      </p:sp>
      <p:sp>
        <p:nvSpPr>
          <p:cNvPr id="15" name="Text 13"/>
          <p:cNvSpPr/>
          <p:nvPr/>
        </p:nvSpPr>
        <p:spPr>
          <a:xfrm>
            <a:off x="914400" y="5166360"/>
            <a:ext cx="10241280" cy="640080"/>
          </a:xfrm>
          <a:prstGeom prst="rect">
            <a:avLst/>
          </a:prstGeom>
          <a:noFill/>
          <a:ln/>
        </p:spPr>
        <p:txBody>
          <a:bodyPr wrap="square" lIns="0" tIns="0" rIns="0" bIns="0" rtlCol="0" anchor="ctr"/>
          <a:lstStyle/>
          <a:p>
            <a:pPr indent="0" marL="0">
              <a:buNone/>
            </a:pPr>
            <a:r>
              <a:rPr lang="en-US" sz="1700" dirty="0">
                <a:solidFill>
                  <a:srgbClr val="F5F7FA"/>
                </a:solidFill>
                <a:latin typeface="Arial" pitchFamily="34" charset="0"/>
                <a:ea typeface="Arial" pitchFamily="34" charset="-122"/>
                <a:cs typeface="Arial" pitchFamily="34" charset="-120"/>
              </a:rPr>
              <a:t>A live market a fan can actually play — with the drama of a real exchange and none of the money, the licences, or the harm.</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Price is probability.</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Every outcome trades from 0 to 100. The price IS the market's live read of the chance.</a:t>
            </a:r>
            <a:endParaRPr lang="en-US" sz="1500" dirty="0"/>
          </a:p>
        </p:txBody>
      </p:sp>
      <p:sp>
        <p:nvSpPr>
          <p:cNvPr id="4" name="Shape 2"/>
          <p:cNvSpPr/>
          <p:nvPr/>
        </p:nvSpPr>
        <p:spPr>
          <a:xfrm>
            <a:off x="640080" y="2148840"/>
            <a:ext cx="5120640" cy="3108960"/>
          </a:xfrm>
          <a:prstGeom prst="roundRect">
            <a:avLst>
              <a:gd name="adj" fmla="val 2353"/>
            </a:avLst>
          </a:prstGeom>
          <a:solidFill>
            <a:srgbClr val="14171C"/>
          </a:solidFill>
          <a:ln w="12700">
            <a:solidFill>
              <a:srgbClr val="2BD97C"/>
            </a:solidFill>
            <a:prstDash val="solid"/>
          </a:ln>
        </p:spPr>
      </p:sp>
      <p:sp>
        <p:nvSpPr>
          <p:cNvPr id="5" name="Text 3"/>
          <p:cNvSpPr/>
          <p:nvPr/>
        </p:nvSpPr>
        <p:spPr>
          <a:xfrm>
            <a:off x="1005840" y="2468880"/>
            <a:ext cx="1828800" cy="274320"/>
          </a:xfrm>
          <a:prstGeom prst="rect">
            <a:avLst/>
          </a:prstGeom>
          <a:noFill/>
          <a:ln/>
        </p:spPr>
        <p:txBody>
          <a:bodyPr wrap="square" lIns="0" tIns="0" rIns="0" bIns="0" rtlCol="0" anchor="ctr"/>
          <a:lstStyle/>
          <a:p>
            <a:pPr indent="0" marL="0">
              <a:buNone/>
            </a:pPr>
            <a:r>
              <a:rPr lang="en-US" sz="1100" b="1" spc="100" kern="0" dirty="0">
                <a:solidFill>
                  <a:srgbClr val="97A0AF"/>
                </a:solidFill>
                <a:latin typeface="Courier New" pitchFamily="34" charset="0"/>
                <a:ea typeface="Courier New" pitchFamily="34" charset="-122"/>
                <a:cs typeface="Courier New" pitchFamily="34" charset="-120"/>
              </a:rPr>
              <a:t>HOME</a:t>
            </a:r>
            <a:endParaRPr lang="en-US" sz="1100" dirty="0"/>
          </a:p>
        </p:txBody>
      </p:sp>
      <p:sp>
        <p:nvSpPr>
          <p:cNvPr id="6" name="Text 4"/>
          <p:cNvSpPr/>
          <p:nvPr/>
        </p:nvSpPr>
        <p:spPr>
          <a:xfrm>
            <a:off x="1005840" y="2743200"/>
            <a:ext cx="2743200" cy="1097280"/>
          </a:xfrm>
          <a:prstGeom prst="rect">
            <a:avLst/>
          </a:prstGeom>
          <a:noFill/>
          <a:ln/>
        </p:spPr>
        <p:txBody>
          <a:bodyPr wrap="square" lIns="0" tIns="0" rIns="0" bIns="0" rtlCol="0" anchor="ctr"/>
          <a:lstStyle/>
          <a:p>
            <a:pPr indent="0" marL="0">
              <a:buNone/>
            </a:pPr>
            <a:r>
              <a:rPr lang="en-US" sz="6600" b="1" dirty="0">
                <a:solidFill>
                  <a:srgbClr val="2BD97C"/>
                </a:solidFill>
                <a:latin typeface="Courier New" pitchFamily="34" charset="0"/>
                <a:ea typeface="Courier New" pitchFamily="34" charset="-122"/>
                <a:cs typeface="Courier New" pitchFamily="34" charset="-120"/>
              </a:rPr>
              <a:t>61.4</a:t>
            </a:r>
            <a:endParaRPr lang="en-US" sz="6600" dirty="0"/>
          </a:p>
        </p:txBody>
      </p:sp>
      <p:sp>
        <p:nvSpPr>
          <p:cNvPr id="7" name="Text 5"/>
          <p:cNvSpPr/>
          <p:nvPr/>
        </p:nvSpPr>
        <p:spPr>
          <a:xfrm>
            <a:off x="1005840" y="3931920"/>
            <a:ext cx="4389120" cy="1097280"/>
          </a:xfrm>
          <a:prstGeom prst="rect">
            <a:avLst/>
          </a:prstGeom>
          <a:noFill/>
          <a:ln/>
        </p:spPr>
        <p:txBody>
          <a:bodyPr wrap="square" lIns="0" tIns="0" rIns="0" bIns="0" rtlCol="0" anchor="ctr"/>
          <a:lstStyle/>
          <a:p>
            <a:pPr indent="0" marL="0">
              <a:lnSpc>
                <a:spcPts val="2000"/>
              </a:lnSpc>
              <a:buNone/>
            </a:pPr>
            <a:r>
              <a:rPr lang="en-US" sz="1300" dirty="0">
                <a:solidFill>
                  <a:srgbClr val="97A0AF"/>
                </a:solidFill>
                <a:latin typeface="Arial" pitchFamily="34" charset="0"/>
                <a:ea typeface="Arial" pitchFamily="34" charset="-122"/>
                <a:cs typeface="Arial" pitchFamily="34" charset="-120"/>
              </a:rPr>
              <a:t>Canada are a 61.4% chance right now.</a:t>
            </a:r>
            <a:endParaRPr lang="en-US" sz="1300" dirty="0"/>
          </a:p>
          <a:p>
            <a:pPr indent="0" marL="0">
              <a:lnSpc>
                <a:spcPts val="2000"/>
              </a:lnSpc>
              <a:buNone/>
            </a:pPr>
            <a:r>
              <a:rPr lang="en-US" sz="1300" dirty="0">
                <a:solidFill>
                  <a:srgbClr val="97A0AF"/>
                </a:solidFill>
                <a:latin typeface="Arial" pitchFamily="34" charset="0"/>
                <a:ea typeface="Arial" pitchFamily="34" charset="-122"/>
                <a:cs typeface="Arial" pitchFamily="34" charset="-120"/>
              </a:rPr>
              <a:t>Buy at 61.4. A winning share settles at 100 credits.</a:t>
            </a:r>
            <a:endParaRPr lang="en-US" sz="1300" dirty="0"/>
          </a:p>
          <a:p>
            <a:pPr indent="0" marL="0">
              <a:lnSpc>
                <a:spcPts val="2000"/>
              </a:lnSpc>
              <a:buNone/>
            </a:pPr>
            <a:r>
              <a:rPr lang="en-US" sz="1300" dirty="0">
                <a:solidFill>
                  <a:srgbClr val="97A0AF"/>
                </a:solidFill>
                <a:latin typeface="Arial" pitchFamily="34" charset="0"/>
                <a:ea typeface="Arial" pitchFamily="34" charset="-122"/>
                <a:cs typeface="Arial" pitchFamily="34" charset="-120"/>
              </a:rPr>
              <a:t>Buy below the true chance — that's the edge.</a:t>
            </a:r>
            <a:endParaRPr lang="en-US" sz="1300" dirty="0"/>
          </a:p>
        </p:txBody>
      </p:sp>
      <p:sp>
        <p:nvSpPr>
          <p:cNvPr id="8" name="Shape 6"/>
          <p:cNvSpPr/>
          <p:nvPr/>
        </p:nvSpPr>
        <p:spPr>
          <a:xfrm>
            <a:off x="6126480" y="2221992"/>
            <a:ext cx="201168" cy="201168"/>
          </a:xfrm>
          <a:prstGeom prst="ellipse">
            <a:avLst/>
          </a:prstGeom>
          <a:solidFill>
            <a:srgbClr val="2BD97C"/>
          </a:solidFill>
          <a:ln/>
        </p:spPr>
      </p:sp>
      <p:sp>
        <p:nvSpPr>
          <p:cNvPr id="9" name="Text 7"/>
          <p:cNvSpPr/>
          <p:nvPr/>
        </p:nvSpPr>
        <p:spPr>
          <a:xfrm>
            <a:off x="6492240" y="2148840"/>
            <a:ext cx="5029200" cy="320040"/>
          </a:xfrm>
          <a:prstGeom prst="rect">
            <a:avLst/>
          </a:prstGeom>
          <a:noFill/>
          <a:ln/>
        </p:spPr>
        <p:txBody>
          <a:bodyPr wrap="square" lIns="0" tIns="0" rIns="0" bIns="0" rtlCol="0" anchor="ctr"/>
          <a:lstStyle/>
          <a:p>
            <a:pPr indent="0" marL="0">
              <a:buNone/>
            </a:pPr>
            <a:r>
              <a:rPr lang="en-US" sz="1500" b="1" dirty="0">
                <a:solidFill>
                  <a:srgbClr val="F5F7FA"/>
                </a:solidFill>
                <a:latin typeface="Arial" pitchFamily="34" charset="0"/>
                <a:ea typeface="Arial" pitchFamily="34" charset="-122"/>
                <a:cs typeface="Arial" pitchFamily="34" charset="-120"/>
              </a:rPr>
              <a:t>1,000 free credits, every match</a:t>
            </a:r>
            <a:endParaRPr lang="en-US" sz="1500" dirty="0"/>
          </a:p>
        </p:txBody>
      </p:sp>
      <p:sp>
        <p:nvSpPr>
          <p:cNvPr id="10" name="Text 8"/>
          <p:cNvSpPr/>
          <p:nvPr/>
        </p:nvSpPr>
        <p:spPr>
          <a:xfrm>
            <a:off x="6492240" y="2459736"/>
            <a:ext cx="5029200" cy="365760"/>
          </a:xfrm>
          <a:prstGeom prst="rect">
            <a:avLst/>
          </a:prstGeom>
          <a:noFill/>
          <a:ln/>
        </p:spPr>
        <p:txBody>
          <a:bodyPr wrap="square" lIns="0" tIns="0" rIns="0" bIns="0" rtlCol="0" anchor="ctr"/>
          <a:lstStyle/>
          <a:p>
            <a:pPr indent="0" marL="0">
              <a:buNone/>
            </a:pPr>
            <a:r>
              <a:rPr lang="en-US" sz="1200" dirty="0">
                <a:solidFill>
                  <a:srgbClr val="97A0AF"/>
                </a:solidFill>
                <a:latin typeface="Arial" pitchFamily="34" charset="0"/>
                <a:ea typeface="Arial" pitchFamily="34" charset="-122"/>
                <a:cs typeface="Arial" pitchFamily="34" charset="-120"/>
              </a:rPr>
              <a:t>No deposit. No wallet funding. Just play.</a:t>
            </a:r>
            <a:endParaRPr lang="en-US" sz="1200" dirty="0"/>
          </a:p>
        </p:txBody>
      </p:sp>
      <p:sp>
        <p:nvSpPr>
          <p:cNvPr id="11" name="Shape 9"/>
          <p:cNvSpPr/>
          <p:nvPr/>
        </p:nvSpPr>
        <p:spPr>
          <a:xfrm>
            <a:off x="6126480" y="3026664"/>
            <a:ext cx="201168" cy="201168"/>
          </a:xfrm>
          <a:prstGeom prst="ellipse">
            <a:avLst/>
          </a:prstGeom>
          <a:solidFill>
            <a:srgbClr val="2BD97C"/>
          </a:solidFill>
          <a:ln/>
        </p:spPr>
      </p:sp>
      <p:sp>
        <p:nvSpPr>
          <p:cNvPr id="12" name="Text 10"/>
          <p:cNvSpPr/>
          <p:nvPr/>
        </p:nvSpPr>
        <p:spPr>
          <a:xfrm>
            <a:off x="6492240" y="2953512"/>
            <a:ext cx="5029200" cy="320040"/>
          </a:xfrm>
          <a:prstGeom prst="rect">
            <a:avLst/>
          </a:prstGeom>
          <a:noFill/>
          <a:ln/>
        </p:spPr>
        <p:txBody>
          <a:bodyPr wrap="square" lIns="0" tIns="0" rIns="0" bIns="0" rtlCol="0" anchor="ctr"/>
          <a:lstStyle/>
          <a:p>
            <a:pPr indent="0" marL="0">
              <a:buNone/>
            </a:pPr>
            <a:r>
              <a:rPr lang="en-US" sz="1500" b="1" dirty="0">
                <a:solidFill>
                  <a:srgbClr val="F5F7FA"/>
                </a:solidFill>
                <a:latin typeface="Arial" pitchFamily="34" charset="0"/>
                <a:ea typeface="Arial" pitchFamily="34" charset="-122"/>
                <a:cs typeface="Arial" pitchFamily="34" charset="-120"/>
              </a:rPr>
              <a:t>LMSR automated market maker</a:t>
            </a:r>
            <a:endParaRPr lang="en-US" sz="1500" dirty="0"/>
          </a:p>
        </p:txBody>
      </p:sp>
      <p:sp>
        <p:nvSpPr>
          <p:cNvPr id="13" name="Text 11"/>
          <p:cNvSpPr/>
          <p:nvPr/>
        </p:nvSpPr>
        <p:spPr>
          <a:xfrm>
            <a:off x="6492240" y="3264408"/>
            <a:ext cx="5029200" cy="365760"/>
          </a:xfrm>
          <a:prstGeom prst="rect">
            <a:avLst/>
          </a:prstGeom>
          <a:noFill/>
          <a:ln/>
        </p:spPr>
        <p:txBody>
          <a:bodyPr wrap="square" lIns="0" tIns="0" rIns="0" bIns="0" rtlCol="0" anchor="ctr"/>
          <a:lstStyle/>
          <a:p>
            <a:pPr indent="0" marL="0">
              <a:buNone/>
            </a:pPr>
            <a:r>
              <a:rPr lang="en-US" sz="1200" dirty="0">
                <a:solidFill>
                  <a:srgbClr val="97A0AF"/>
                </a:solidFill>
                <a:latin typeface="Arial" pitchFamily="34" charset="0"/>
                <a:ea typeface="Arial" pitchFamily="34" charset="-122"/>
                <a:cs typeface="Arial" pitchFamily="34" charset="-120"/>
              </a:rPr>
              <a:t>Always a price, always liquid — no counterparty needed.</a:t>
            </a:r>
            <a:endParaRPr lang="en-US" sz="1200" dirty="0"/>
          </a:p>
        </p:txBody>
      </p:sp>
      <p:sp>
        <p:nvSpPr>
          <p:cNvPr id="14" name="Shape 12"/>
          <p:cNvSpPr/>
          <p:nvPr/>
        </p:nvSpPr>
        <p:spPr>
          <a:xfrm>
            <a:off x="6126480" y="3831336"/>
            <a:ext cx="201168" cy="201168"/>
          </a:xfrm>
          <a:prstGeom prst="ellipse">
            <a:avLst/>
          </a:prstGeom>
          <a:solidFill>
            <a:srgbClr val="2BD97C"/>
          </a:solidFill>
          <a:ln/>
        </p:spPr>
      </p:sp>
      <p:sp>
        <p:nvSpPr>
          <p:cNvPr id="15" name="Text 13"/>
          <p:cNvSpPr/>
          <p:nvPr/>
        </p:nvSpPr>
        <p:spPr>
          <a:xfrm>
            <a:off x="6492240" y="3758184"/>
            <a:ext cx="5029200" cy="320040"/>
          </a:xfrm>
          <a:prstGeom prst="rect">
            <a:avLst/>
          </a:prstGeom>
          <a:noFill/>
          <a:ln/>
        </p:spPr>
        <p:txBody>
          <a:bodyPr wrap="square" lIns="0" tIns="0" rIns="0" bIns="0" rtlCol="0" anchor="ctr"/>
          <a:lstStyle/>
          <a:p>
            <a:pPr indent="0" marL="0">
              <a:buNone/>
            </a:pPr>
            <a:r>
              <a:rPr lang="en-US" sz="1500" b="1" dirty="0">
                <a:solidFill>
                  <a:srgbClr val="F5F7FA"/>
                </a:solidFill>
                <a:latin typeface="Arial" pitchFamily="34" charset="0"/>
                <a:ea typeface="Arial" pitchFamily="34" charset="-122"/>
                <a:cs typeface="Arial" pitchFamily="34" charset="-120"/>
              </a:rPr>
              <a:t>Home / Draw / Away</a:t>
            </a:r>
            <a:endParaRPr lang="en-US" sz="1500" dirty="0"/>
          </a:p>
        </p:txBody>
      </p:sp>
      <p:sp>
        <p:nvSpPr>
          <p:cNvPr id="16" name="Text 14"/>
          <p:cNvSpPr/>
          <p:nvPr/>
        </p:nvSpPr>
        <p:spPr>
          <a:xfrm>
            <a:off x="6492240" y="4069080"/>
            <a:ext cx="5029200" cy="365760"/>
          </a:xfrm>
          <a:prstGeom prst="rect">
            <a:avLst/>
          </a:prstGeom>
          <a:noFill/>
          <a:ln/>
        </p:spPr>
        <p:txBody>
          <a:bodyPr wrap="square" lIns="0" tIns="0" rIns="0" bIns="0" rtlCol="0" anchor="ctr"/>
          <a:lstStyle/>
          <a:p>
            <a:pPr indent="0" marL="0">
              <a:buNone/>
            </a:pPr>
            <a:r>
              <a:rPr lang="en-US" sz="1200" dirty="0">
                <a:solidFill>
                  <a:srgbClr val="97A0AF"/>
                </a:solidFill>
                <a:latin typeface="Arial" pitchFamily="34" charset="0"/>
                <a:ea typeface="Arial" pitchFamily="34" charset="-122"/>
                <a:cs typeface="Arial" pitchFamily="34" charset="-120"/>
              </a:rPr>
              <a:t>One market, three outcomes, prices always summing to 100.</a:t>
            </a:r>
            <a:endParaRPr lang="en-US" sz="1200" dirty="0"/>
          </a:p>
        </p:txBody>
      </p:sp>
      <p:sp>
        <p:nvSpPr>
          <p:cNvPr id="17" name="Shape 15"/>
          <p:cNvSpPr/>
          <p:nvPr/>
        </p:nvSpPr>
        <p:spPr>
          <a:xfrm>
            <a:off x="6126480" y="4636008"/>
            <a:ext cx="201168" cy="201168"/>
          </a:xfrm>
          <a:prstGeom prst="ellipse">
            <a:avLst/>
          </a:prstGeom>
          <a:solidFill>
            <a:srgbClr val="2BD97C"/>
          </a:solidFill>
          <a:ln/>
        </p:spPr>
      </p:sp>
      <p:sp>
        <p:nvSpPr>
          <p:cNvPr id="18" name="Text 16"/>
          <p:cNvSpPr/>
          <p:nvPr/>
        </p:nvSpPr>
        <p:spPr>
          <a:xfrm>
            <a:off x="6492240" y="4562856"/>
            <a:ext cx="5029200" cy="320040"/>
          </a:xfrm>
          <a:prstGeom prst="rect">
            <a:avLst/>
          </a:prstGeom>
          <a:noFill/>
          <a:ln/>
        </p:spPr>
        <p:txBody>
          <a:bodyPr wrap="square" lIns="0" tIns="0" rIns="0" bIns="0" rtlCol="0" anchor="ctr"/>
          <a:lstStyle/>
          <a:p>
            <a:pPr indent="0" marL="0">
              <a:buNone/>
            </a:pPr>
            <a:r>
              <a:rPr lang="en-US" sz="1500" b="1" dirty="0">
                <a:solidFill>
                  <a:srgbClr val="F5F7FA"/>
                </a:solidFill>
                <a:latin typeface="Arial" pitchFamily="34" charset="0"/>
                <a:ea typeface="Arial" pitchFamily="34" charset="-122"/>
                <a:cs typeface="Arial" pitchFamily="34" charset="-120"/>
              </a:rPr>
              <a:t>We say price, trade, credits</a:t>
            </a:r>
            <a:endParaRPr lang="en-US" sz="1500" dirty="0"/>
          </a:p>
        </p:txBody>
      </p:sp>
      <p:sp>
        <p:nvSpPr>
          <p:cNvPr id="19" name="Text 17"/>
          <p:cNvSpPr/>
          <p:nvPr/>
        </p:nvSpPr>
        <p:spPr>
          <a:xfrm>
            <a:off x="6492240" y="4873752"/>
            <a:ext cx="5029200" cy="365760"/>
          </a:xfrm>
          <a:prstGeom prst="rect">
            <a:avLst/>
          </a:prstGeom>
          <a:noFill/>
          <a:ln/>
        </p:spPr>
        <p:txBody>
          <a:bodyPr wrap="square" lIns="0" tIns="0" rIns="0" bIns="0" rtlCol="0" anchor="ctr"/>
          <a:lstStyle/>
          <a:p>
            <a:pPr indent="0" marL="0">
              <a:buNone/>
            </a:pPr>
            <a:r>
              <a:rPr lang="en-US" sz="1200" dirty="0">
                <a:solidFill>
                  <a:srgbClr val="97A0AF"/>
                </a:solidFill>
                <a:latin typeface="Arial" pitchFamily="34" charset="0"/>
                <a:ea typeface="Arial" pitchFamily="34" charset="-122"/>
                <a:cs typeface="Arial" pitchFamily="34" charset="-120"/>
              </a:rPr>
              <a:t>Never the other words. That is a product decision, not a euphemism.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The 90 seconds that make this product.</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A goal goes in. Watch what happens.</a:t>
            </a:r>
            <a:endParaRPr lang="en-US" sz="1500" dirty="0"/>
          </a:p>
        </p:txBody>
      </p:sp>
      <p:sp>
        <p:nvSpPr>
          <p:cNvPr id="4" name="Shape 2"/>
          <p:cNvSpPr/>
          <p:nvPr/>
        </p:nvSpPr>
        <p:spPr>
          <a:xfrm>
            <a:off x="640080" y="2103120"/>
            <a:ext cx="3429000" cy="1828800"/>
          </a:xfrm>
          <a:prstGeom prst="roundRect">
            <a:avLst>
              <a:gd name="adj" fmla="val 4000"/>
            </a:avLst>
          </a:prstGeom>
          <a:solidFill>
            <a:srgbClr val="14171C"/>
          </a:solidFill>
          <a:ln w="12700">
            <a:solidFill>
              <a:srgbClr val="2BD97C"/>
            </a:solidFill>
            <a:prstDash val="solid"/>
          </a:ln>
        </p:spPr>
      </p:sp>
      <p:sp>
        <p:nvSpPr>
          <p:cNvPr id="5" name="Text 3"/>
          <p:cNvSpPr/>
          <p:nvPr/>
        </p:nvSpPr>
        <p:spPr>
          <a:xfrm>
            <a:off x="914400" y="2304288"/>
            <a:ext cx="914400" cy="274320"/>
          </a:xfrm>
          <a:prstGeom prst="rect">
            <a:avLst/>
          </a:prstGeom>
          <a:noFill/>
          <a:ln/>
        </p:spPr>
        <p:txBody>
          <a:bodyPr wrap="square" lIns="0" tIns="0" rIns="0" bIns="0" rtlCol="0" anchor="ctr"/>
          <a:lstStyle/>
          <a:p>
            <a:pPr indent="0" marL="0">
              <a:buNone/>
            </a:pPr>
            <a:r>
              <a:rPr lang="en-US" sz="1100" b="1" dirty="0">
                <a:solidFill>
                  <a:srgbClr val="2BD97C"/>
                </a:solidFill>
                <a:latin typeface="Courier New" pitchFamily="34" charset="0"/>
                <a:ea typeface="Courier New" pitchFamily="34" charset="-122"/>
                <a:cs typeface="Courier New" pitchFamily="34" charset="-120"/>
              </a:rPr>
              <a:t>01</a:t>
            </a:r>
            <a:endParaRPr lang="en-US" sz="1100" dirty="0"/>
          </a:p>
        </p:txBody>
      </p:sp>
      <p:sp>
        <p:nvSpPr>
          <p:cNvPr id="6" name="Text 4"/>
          <p:cNvSpPr/>
          <p:nvPr/>
        </p:nvSpPr>
        <p:spPr>
          <a:xfrm>
            <a:off x="914400" y="263347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GOAL</a:t>
            </a:r>
            <a:endParaRPr lang="en-US" sz="1900" dirty="0"/>
          </a:p>
        </p:txBody>
      </p:sp>
      <p:sp>
        <p:nvSpPr>
          <p:cNvPr id="7" name="Text 5"/>
          <p:cNvSpPr/>
          <p:nvPr/>
        </p:nvSpPr>
        <p:spPr>
          <a:xfrm>
            <a:off x="914400" y="306324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TxLINE's signed feed carries the goal in milliseconds.</a:t>
            </a:r>
            <a:endParaRPr lang="en-US" sz="1200" dirty="0"/>
          </a:p>
        </p:txBody>
      </p:sp>
      <p:sp>
        <p:nvSpPr>
          <p:cNvPr id="8" name="Shape 6"/>
          <p:cNvSpPr/>
          <p:nvPr/>
        </p:nvSpPr>
        <p:spPr>
          <a:xfrm>
            <a:off x="4343400" y="2103120"/>
            <a:ext cx="3429000" cy="1828800"/>
          </a:xfrm>
          <a:prstGeom prst="roundRect">
            <a:avLst>
              <a:gd name="adj" fmla="val 4000"/>
            </a:avLst>
          </a:prstGeom>
          <a:solidFill>
            <a:srgbClr val="14171C"/>
          </a:solidFill>
          <a:ln w="12700">
            <a:solidFill>
              <a:srgbClr val="FFB020"/>
            </a:solidFill>
            <a:prstDash val="solid"/>
          </a:ln>
        </p:spPr>
      </p:sp>
      <p:sp>
        <p:nvSpPr>
          <p:cNvPr id="9" name="Text 7"/>
          <p:cNvSpPr/>
          <p:nvPr/>
        </p:nvSpPr>
        <p:spPr>
          <a:xfrm>
            <a:off x="4617720" y="2304288"/>
            <a:ext cx="914400" cy="274320"/>
          </a:xfrm>
          <a:prstGeom prst="rect">
            <a:avLst/>
          </a:prstGeom>
          <a:noFill/>
          <a:ln/>
        </p:spPr>
        <p:txBody>
          <a:bodyPr wrap="square" lIns="0" tIns="0" rIns="0" bIns="0" rtlCol="0" anchor="ctr"/>
          <a:lstStyle/>
          <a:p>
            <a:pPr indent="0" marL="0">
              <a:buNone/>
            </a:pPr>
            <a:r>
              <a:rPr lang="en-US" sz="1100" b="1" dirty="0">
                <a:solidFill>
                  <a:srgbClr val="FFB020"/>
                </a:solidFill>
                <a:latin typeface="Courier New" pitchFamily="34" charset="0"/>
                <a:ea typeface="Courier New" pitchFamily="34" charset="-122"/>
                <a:cs typeface="Courier New" pitchFamily="34" charset="-120"/>
              </a:rPr>
              <a:t>02</a:t>
            </a:r>
            <a:endParaRPr lang="en-US" sz="1100" dirty="0"/>
          </a:p>
        </p:txBody>
      </p:sp>
      <p:sp>
        <p:nvSpPr>
          <p:cNvPr id="10" name="Text 8"/>
          <p:cNvSpPr/>
          <p:nvPr/>
        </p:nvSpPr>
        <p:spPr>
          <a:xfrm>
            <a:off x="4617720" y="263347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HALT</a:t>
            </a:r>
            <a:endParaRPr lang="en-US" sz="1900" dirty="0"/>
          </a:p>
        </p:txBody>
      </p:sp>
      <p:sp>
        <p:nvSpPr>
          <p:cNvPr id="11" name="Text 9"/>
          <p:cNvSpPr/>
          <p:nvPr/>
        </p:nvSpPr>
        <p:spPr>
          <a:xfrm>
            <a:off x="4617720" y="306324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The market freezes. Nobody can trade a price that's already dead.</a:t>
            </a:r>
            <a:endParaRPr lang="en-US" sz="1200" dirty="0"/>
          </a:p>
        </p:txBody>
      </p:sp>
      <p:sp>
        <p:nvSpPr>
          <p:cNvPr id="12" name="Shape 10"/>
          <p:cNvSpPr/>
          <p:nvPr/>
        </p:nvSpPr>
        <p:spPr>
          <a:xfrm>
            <a:off x="8046720" y="2103120"/>
            <a:ext cx="3429000" cy="1828800"/>
          </a:xfrm>
          <a:prstGeom prst="roundRect">
            <a:avLst>
              <a:gd name="adj" fmla="val 4000"/>
            </a:avLst>
          </a:prstGeom>
          <a:solidFill>
            <a:srgbClr val="14171C"/>
          </a:solidFill>
          <a:ln w="12700">
            <a:solidFill>
              <a:srgbClr val="2BD97C"/>
            </a:solidFill>
            <a:prstDash val="solid"/>
          </a:ln>
        </p:spPr>
      </p:sp>
      <p:sp>
        <p:nvSpPr>
          <p:cNvPr id="13" name="Text 11"/>
          <p:cNvSpPr/>
          <p:nvPr/>
        </p:nvSpPr>
        <p:spPr>
          <a:xfrm>
            <a:off x="8321040" y="2304288"/>
            <a:ext cx="914400" cy="274320"/>
          </a:xfrm>
          <a:prstGeom prst="rect">
            <a:avLst/>
          </a:prstGeom>
          <a:noFill/>
          <a:ln/>
        </p:spPr>
        <p:txBody>
          <a:bodyPr wrap="square" lIns="0" tIns="0" rIns="0" bIns="0" rtlCol="0" anchor="ctr"/>
          <a:lstStyle/>
          <a:p>
            <a:pPr indent="0" marL="0">
              <a:buNone/>
            </a:pPr>
            <a:r>
              <a:rPr lang="en-US" sz="1100" b="1" dirty="0">
                <a:solidFill>
                  <a:srgbClr val="2BD97C"/>
                </a:solidFill>
                <a:latin typeface="Courier New" pitchFamily="34" charset="0"/>
                <a:ea typeface="Courier New" pitchFamily="34" charset="-122"/>
                <a:cs typeface="Courier New" pitchFamily="34" charset="-120"/>
              </a:rPr>
              <a:t>03</a:t>
            </a:r>
            <a:endParaRPr lang="en-US" sz="1100" dirty="0"/>
          </a:p>
        </p:txBody>
      </p:sp>
      <p:sp>
        <p:nvSpPr>
          <p:cNvPr id="14" name="Text 12"/>
          <p:cNvSpPr/>
          <p:nvPr/>
        </p:nvSpPr>
        <p:spPr>
          <a:xfrm>
            <a:off x="8321040" y="263347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REPRICE</a:t>
            </a:r>
            <a:endParaRPr lang="en-US" sz="1900" dirty="0"/>
          </a:p>
        </p:txBody>
      </p:sp>
      <p:sp>
        <p:nvSpPr>
          <p:cNvPr id="15" name="Text 13"/>
          <p:cNvSpPr/>
          <p:nvPr/>
        </p:nvSpPr>
        <p:spPr>
          <a:xfrm>
            <a:off x="8321040" y="306324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The engine re-anchors. The cliff lands on the chart.</a:t>
            </a:r>
            <a:endParaRPr lang="en-US" sz="1200" dirty="0"/>
          </a:p>
        </p:txBody>
      </p:sp>
      <p:sp>
        <p:nvSpPr>
          <p:cNvPr id="16" name="Shape 14"/>
          <p:cNvSpPr/>
          <p:nvPr/>
        </p:nvSpPr>
        <p:spPr>
          <a:xfrm>
            <a:off x="640080" y="4206240"/>
            <a:ext cx="3429000" cy="1828800"/>
          </a:xfrm>
          <a:prstGeom prst="roundRect">
            <a:avLst>
              <a:gd name="adj" fmla="val 4000"/>
            </a:avLst>
          </a:prstGeom>
          <a:solidFill>
            <a:srgbClr val="14171C"/>
          </a:solidFill>
          <a:ln w="12700">
            <a:solidFill>
              <a:srgbClr val="97A0AF"/>
            </a:solidFill>
            <a:prstDash val="solid"/>
          </a:ln>
        </p:spPr>
      </p:sp>
      <p:sp>
        <p:nvSpPr>
          <p:cNvPr id="17" name="Text 15"/>
          <p:cNvSpPr/>
          <p:nvPr/>
        </p:nvSpPr>
        <p:spPr>
          <a:xfrm>
            <a:off x="914400" y="4407408"/>
            <a:ext cx="914400" cy="274320"/>
          </a:xfrm>
          <a:prstGeom prst="rect">
            <a:avLst/>
          </a:prstGeom>
          <a:noFill/>
          <a:ln/>
        </p:spPr>
        <p:txBody>
          <a:bodyPr wrap="square" lIns="0" tIns="0" rIns="0" bIns="0" rtlCol="0" anchor="ctr"/>
          <a:lstStyle/>
          <a:p>
            <a:pPr indent="0" marL="0">
              <a:buNone/>
            </a:pPr>
            <a:r>
              <a:rPr lang="en-US" sz="1100" b="1" dirty="0">
                <a:solidFill>
                  <a:srgbClr val="97A0AF"/>
                </a:solidFill>
                <a:latin typeface="Courier New" pitchFamily="34" charset="0"/>
                <a:ea typeface="Courier New" pitchFamily="34" charset="-122"/>
                <a:cs typeface="Courier New" pitchFamily="34" charset="-120"/>
              </a:rPr>
              <a:t>04</a:t>
            </a:r>
            <a:endParaRPr lang="en-US" sz="1100" dirty="0"/>
          </a:p>
        </p:txBody>
      </p:sp>
      <p:sp>
        <p:nvSpPr>
          <p:cNvPr id="18" name="Text 16"/>
          <p:cNvSpPr/>
          <p:nvPr/>
        </p:nvSpPr>
        <p:spPr>
          <a:xfrm>
            <a:off x="914400" y="473659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SPREAD DECAYS</a:t>
            </a:r>
            <a:endParaRPr lang="en-US" sz="1900" dirty="0"/>
          </a:p>
        </p:txBody>
      </p:sp>
      <p:sp>
        <p:nvSpPr>
          <p:cNvPr id="19" name="Text 17"/>
          <p:cNvSpPr/>
          <p:nvPr/>
        </p:nvSpPr>
        <p:spPr>
          <a:xfrm>
            <a:off x="914400" y="516636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Liquidity walks back in over 60 seconds.</a:t>
            </a:r>
            <a:endParaRPr lang="en-US" sz="1200" dirty="0"/>
          </a:p>
        </p:txBody>
      </p:sp>
      <p:sp>
        <p:nvSpPr>
          <p:cNvPr id="20" name="Shape 18"/>
          <p:cNvSpPr/>
          <p:nvPr/>
        </p:nvSpPr>
        <p:spPr>
          <a:xfrm>
            <a:off x="4343400" y="4206240"/>
            <a:ext cx="3429000" cy="1828800"/>
          </a:xfrm>
          <a:prstGeom prst="roundRect">
            <a:avLst>
              <a:gd name="adj" fmla="val 4000"/>
            </a:avLst>
          </a:prstGeom>
          <a:solidFill>
            <a:srgbClr val="14171C"/>
          </a:solidFill>
          <a:ln w="12700">
            <a:solidFill>
              <a:srgbClr val="F5F7FA"/>
            </a:solidFill>
            <a:prstDash val="solid"/>
          </a:ln>
        </p:spPr>
      </p:sp>
      <p:sp>
        <p:nvSpPr>
          <p:cNvPr id="21" name="Text 19"/>
          <p:cNvSpPr/>
          <p:nvPr/>
        </p:nvSpPr>
        <p:spPr>
          <a:xfrm>
            <a:off x="4617720" y="4407408"/>
            <a:ext cx="914400" cy="274320"/>
          </a:xfrm>
          <a:prstGeom prst="rect">
            <a:avLst/>
          </a:prstGeom>
          <a:noFill/>
          <a:ln/>
        </p:spPr>
        <p:txBody>
          <a:bodyPr wrap="square" lIns="0" tIns="0" rIns="0" bIns="0" rtlCol="0" anchor="ctr"/>
          <a:lstStyle/>
          <a:p>
            <a:pPr indent="0" marL="0">
              <a:buNone/>
            </a:pPr>
            <a:r>
              <a:rPr lang="en-US" sz="1100" b="1" dirty="0">
                <a:solidFill>
                  <a:srgbClr val="F5F7FA"/>
                </a:solidFill>
                <a:latin typeface="Courier New" pitchFamily="34" charset="0"/>
                <a:ea typeface="Courier New" pitchFamily="34" charset="-122"/>
                <a:cs typeface="Courier New" pitchFamily="34" charset="-120"/>
              </a:rPr>
              <a:t>05</a:t>
            </a:r>
            <a:endParaRPr lang="en-US" sz="1100" dirty="0"/>
          </a:p>
        </p:txBody>
      </p:sp>
      <p:sp>
        <p:nvSpPr>
          <p:cNvPr id="22" name="Text 20"/>
          <p:cNvSpPr/>
          <p:nvPr/>
        </p:nvSpPr>
        <p:spPr>
          <a:xfrm>
            <a:off x="4617720" y="473659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THE BOOTH</a:t>
            </a:r>
            <a:endParaRPr lang="en-US" sz="1900" dirty="0"/>
          </a:p>
        </p:txBody>
      </p:sp>
      <p:sp>
        <p:nvSpPr>
          <p:cNvPr id="23" name="Text 21"/>
          <p:cNvSpPr/>
          <p:nvPr/>
        </p:nvSpPr>
        <p:spPr>
          <a:xfrm>
            <a:off x="4617720" y="516636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An AI commentator narrates the swing, quoting the real move.</a:t>
            </a:r>
            <a:endParaRPr lang="en-US" sz="1200" dirty="0"/>
          </a:p>
        </p:txBody>
      </p:sp>
      <p:sp>
        <p:nvSpPr>
          <p:cNvPr id="24" name="Shape 22"/>
          <p:cNvSpPr/>
          <p:nvPr/>
        </p:nvSpPr>
        <p:spPr>
          <a:xfrm>
            <a:off x="8046720" y="4206240"/>
            <a:ext cx="3429000" cy="1828800"/>
          </a:xfrm>
          <a:prstGeom prst="roundRect">
            <a:avLst>
              <a:gd name="adj" fmla="val 4000"/>
            </a:avLst>
          </a:prstGeom>
          <a:solidFill>
            <a:srgbClr val="14171C"/>
          </a:solidFill>
          <a:ln w="12700">
            <a:solidFill>
              <a:srgbClr val="9D6BFF"/>
            </a:solidFill>
            <a:prstDash val="solid"/>
          </a:ln>
        </p:spPr>
      </p:sp>
      <p:sp>
        <p:nvSpPr>
          <p:cNvPr id="25" name="Text 23"/>
          <p:cNvSpPr/>
          <p:nvPr/>
        </p:nvSpPr>
        <p:spPr>
          <a:xfrm>
            <a:off x="8321040" y="4407408"/>
            <a:ext cx="914400" cy="274320"/>
          </a:xfrm>
          <a:prstGeom prst="rect">
            <a:avLst/>
          </a:prstGeom>
          <a:noFill/>
          <a:ln/>
        </p:spPr>
        <p:txBody>
          <a:bodyPr wrap="square" lIns="0" tIns="0" rIns="0" bIns="0" rtlCol="0" anchor="ctr"/>
          <a:lstStyle/>
          <a:p>
            <a:pPr indent="0" marL="0">
              <a:buNone/>
            </a:pPr>
            <a:r>
              <a:rPr lang="en-US" sz="1100" b="1" dirty="0">
                <a:solidFill>
                  <a:srgbClr val="9D6BFF"/>
                </a:solidFill>
                <a:latin typeface="Courier New" pitchFamily="34" charset="0"/>
                <a:ea typeface="Courier New" pitchFamily="34" charset="-122"/>
                <a:cs typeface="Courier New" pitchFamily="34" charset="-120"/>
              </a:rPr>
              <a:t>06</a:t>
            </a:r>
            <a:endParaRPr lang="en-US" sz="1100" dirty="0"/>
          </a:p>
        </p:txBody>
      </p:sp>
      <p:sp>
        <p:nvSpPr>
          <p:cNvPr id="26" name="Text 24"/>
          <p:cNvSpPr/>
          <p:nvPr/>
        </p:nvSpPr>
        <p:spPr>
          <a:xfrm>
            <a:off x="8321040" y="4736592"/>
            <a:ext cx="2926080" cy="365760"/>
          </a:xfrm>
          <a:prstGeom prst="rect">
            <a:avLst/>
          </a:prstGeom>
          <a:noFill/>
          <a:ln/>
        </p:spPr>
        <p:txBody>
          <a:bodyPr wrap="square" lIns="0" tIns="0" rIns="0" bIns="0" rtlCol="0" anchor="ctr"/>
          <a:lstStyle/>
          <a:p>
            <a:pPr indent="0" marL="0">
              <a:buNone/>
            </a:pPr>
            <a:r>
              <a:rPr lang="en-US" sz="1900" b="1" dirty="0">
                <a:solidFill>
                  <a:srgbClr val="F5F7FA"/>
                </a:solidFill>
                <a:latin typeface="Arial" pitchFamily="34" charset="0"/>
                <a:ea typeface="Arial" pitchFamily="34" charset="-122"/>
                <a:cs typeface="Arial" pitchFamily="34" charset="-120"/>
              </a:rPr>
              <a:t>SETTLE</a:t>
            </a:r>
            <a:endParaRPr lang="en-US" sz="1900" dirty="0"/>
          </a:p>
        </p:txBody>
      </p:sp>
      <p:sp>
        <p:nvSpPr>
          <p:cNvPr id="27" name="Text 25"/>
          <p:cNvSpPr/>
          <p:nvPr/>
        </p:nvSpPr>
        <p:spPr>
          <a:xfrm>
            <a:off x="8321040" y="5166360"/>
            <a:ext cx="2926080" cy="731520"/>
          </a:xfrm>
          <a:prstGeom prst="rect">
            <a:avLst/>
          </a:prstGeom>
          <a:noFill/>
          <a:ln/>
        </p:spPr>
        <p:txBody>
          <a:bodyPr wrap="square" lIns="0" tIns="0" rIns="0" bIns="0" rtlCol="0" anchor="ctr"/>
          <a:lstStyle/>
          <a:p>
            <a:pPr indent="0" marL="0">
              <a:lnSpc>
                <a:spcPts val="1800"/>
              </a:lnSpc>
              <a:buNone/>
            </a:pPr>
            <a:r>
              <a:rPr lang="en-US" sz="1200" dirty="0">
                <a:solidFill>
                  <a:srgbClr val="97A0AF"/>
                </a:solidFill>
                <a:latin typeface="Arial" pitchFamily="34" charset="0"/>
                <a:ea typeface="Arial" pitchFamily="34" charset="-122"/>
                <a:cs typeface="Arial" pitchFamily="34" charset="-120"/>
              </a:rPr>
              <a:t>Full time. Solana verifies TxLINE's proof. Nobody is trusted.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320040"/>
            <a:ext cx="5486400" cy="548640"/>
          </a:xfrm>
          <a:prstGeom prst="rect">
            <a:avLst/>
          </a:prstGeom>
          <a:noFill/>
          <a:ln/>
        </p:spPr>
        <p:txBody>
          <a:bodyPr wrap="square" lIns="0" tIns="0" rIns="0" bIns="0" rtlCol="0" anchor="ctr"/>
          <a:lstStyle/>
          <a:p>
            <a:pPr indent="0" marL="0">
              <a:buNone/>
            </a:pPr>
            <a:r>
              <a:rPr lang="en-US" sz="3200" b="1" dirty="0">
                <a:solidFill>
                  <a:srgbClr val="F5F7FA"/>
                </a:solidFill>
                <a:latin typeface="Arial" pitchFamily="34" charset="0"/>
                <a:ea typeface="Arial" pitchFamily="34" charset="-122"/>
                <a:cs typeface="Arial" pitchFamily="34" charset="-120"/>
              </a:rPr>
              <a:t>The board</a:t>
            </a:r>
            <a:endParaRPr lang="en-US" sz="3200" dirty="0"/>
          </a:p>
        </p:txBody>
      </p:sp>
      <p:sp>
        <p:nvSpPr>
          <p:cNvPr id="3" name="Text 1"/>
          <p:cNvSpPr/>
          <p:nvPr/>
        </p:nvSpPr>
        <p:spPr>
          <a:xfrm>
            <a:off x="640080" y="868680"/>
            <a:ext cx="7315200" cy="32004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Every live match, every price, one glance. Real WC26 data — no placeholders.</a:t>
            </a:r>
            <a:endParaRPr lang="en-US" sz="1300" dirty="0"/>
          </a:p>
        </p:txBody>
      </p:sp>
      <p:pic>
        <p:nvPicPr>
          <p:cNvPr id="4" name="Image 0" descr="home_c.png">    </p:cNvPr>
          <p:cNvPicPr>
            <a:picLocks noChangeAspect="1"/>
          </p:cNvPicPr>
          <p:nvPr/>
        </p:nvPicPr>
        <p:blipFill>
          <a:blip r:embed="rId1"/>
          <a:stretch>
            <a:fillRect/>
          </a:stretch>
        </p:blipFill>
        <p:spPr>
          <a:xfrm>
            <a:off x="1664208" y="1417320"/>
            <a:ext cx="8860536" cy="4983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320040"/>
            <a:ext cx="5486400" cy="548640"/>
          </a:xfrm>
          <a:prstGeom prst="rect">
            <a:avLst/>
          </a:prstGeom>
          <a:noFill/>
          <a:ln/>
        </p:spPr>
        <p:txBody>
          <a:bodyPr wrap="square" lIns="0" tIns="0" rIns="0" bIns="0" rtlCol="0" anchor="ctr"/>
          <a:lstStyle/>
          <a:p>
            <a:pPr indent="0" marL="0">
              <a:buNone/>
            </a:pPr>
            <a:r>
              <a:rPr lang="en-US" sz="3200" b="1" dirty="0">
                <a:solidFill>
                  <a:srgbClr val="F5F7FA"/>
                </a:solidFill>
                <a:latin typeface="Arial" pitchFamily="34" charset="0"/>
                <a:ea typeface="Arial" pitchFamily="34" charset="-122"/>
                <a:cs typeface="Arial" pitchFamily="34" charset="-120"/>
              </a:rPr>
              <a:t>The Terminal</a:t>
            </a:r>
            <a:endParaRPr lang="en-US" sz="3200" dirty="0"/>
          </a:p>
        </p:txBody>
      </p:sp>
      <p:sp>
        <p:nvSpPr>
          <p:cNvPr id="3" name="Text 1"/>
          <p:cNvSpPr/>
          <p:nvPr/>
        </p:nvSpPr>
        <p:spPr>
          <a:xfrm>
            <a:off x="640080" y="868680"/>
            <a:ext cx="8686800" cy="32004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The Momentum River is the hero. Price, depth, position, and the Booth — one surface, one decision.</a:t>
            </a:r>
            <a:endParaRPr lang="en-US" sz="1300" dirty="0"/>
          </a:p>
        </p:txBody>
      </p:sp>
      <p:pic>
        <p:nvPicPr>
          <p:cNvPr id="4" name="Image 0" descr="terminal_c.png">    </p:cNvPr>
          <p:cNvPicPr>
            <a:picLocks noChangeAspect="1"/>
          </p:cNvPicPr>
          <p:nvPr/>
        </p:nvPicPr>
        <p:blipFill>
          <a:blip r:embed="rId1"/>
          <a:stretch>
            <a:fillRect/>
          </a:stretch>
        </p:blipFill>
        <p:spPr>
          <a:xfrm>
            <a:off x="1664208" y="1417320"/>
            <a:ext cx="8860536" cy="4983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Why Solana. Why TxLINE.</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Because the alternative is asking you to trust us — and you shouldn't have to.</a:t>
            </a:r>
            <a:endParaRPr lang="en-US" sz="1500" dirty="0"/>
          </a:p>
        </p:txBody>
      </p:sp>
      <p:sp>
        <p:nvSpPr>
          <p:cNvPr id="4" name="Shape 2"/>
          <p:cNvSpPr/>
          <p:nvPr/>
        </p:nvSpPr>
        <p:spPr>
          <a:xfrm>
            <a:off x="640080" y="2148840"/>
            <a:ext cx="5349240" cy="3840480"/>
          </a:xfrm>
          <a:prstGeom prst="roundRect">
            <a:avLst>
              <a:gd name="adj" fmla="val 1905"/>
            </a:avLst>
          </a:prstGeom>
          <a:solidFill>
            <a:srgbClr val="14171C"/>
          </a:solidFill>
          <a:ln w="12700">
            <a:solidFill>
              <a:srgbClr val="9D6BFF"/>
            </a:solidFill>
            <a:prstDash val="solid"/>
          </a:ln>
        </p:spPr>
      </p:sp>
      <p:sp>
        <p:nvSpPr>
          <p:cNvPr id="5" name="Shape 3"/>
          <p:cNvSpPr/>
          <p:nvPr/>
        </p:nvSpPr>
        <p:spPr>
          <a:xfrm>
            <a:off x="960120" y="2423160"/>
            <a:ext cx="274320" cy="274320"/>
          </a:xfrm>
          <a:prstGeom prst="ellipse">
            <a:avLst/>
          </a:prstGeom>
          <a:solidFill>
            <a:srgbClr val="9D6BFF"/>
          </a:solidFill>
          <a:ln/>
        </p:spPr>
      </p:sp>
      <p:sp>
        <p:nvSpPr>
          <p:cNvPr id="6" name="Text 4"/>
          <p:cNvSpPr/>
          <p:nvPr/>
        </p:nvSpPr>
        <p:spPr>
          <a:xfrm>
            <a:off x="1371600" y="2404872"/>
            <a:ext cx="3657600" cy="320040"/>
          </a:xfrm>
          <a:prstGeom prst="rect">
            <a:avLst/>
          </a:prstGeom>
          <a:noFill/>
          <a:ln/>
        </p:spPr>
        <p:txBody>
          <a:bodyPr wrap="square" lIns="0" tIns="0" rIns="0" bIns="0" rtlCol="0" anchor="ctr"/>
          <a:lstStyle/>
          <a:p>
            <a:pPr indent="0" marL="0">
              <a:buNone/>
            </a:pPr>
            <a:r>
              <a:rPr lang="en-US" sz="1600" b="1" spc="100" kern="0" dirty="0">
                <a:solidFill>
                  <a:srgbClr val="9D6BFF"/>
                </a:solidFill>
                <a:latin typeface="Courier New" pitchFamily="34" charset="0"/>
                <a:ea typeface="Courier New" pitchFamily="34" charset="-122"/>
                <a:cs typeface="Courier New" pitchFamily="34" charset="-120"/>
              </a:rPr>
              <a:t>SOLANA</a:t>
            </a:r>
            <a:endParaRPr lang="en-US" sz="1600" dirty="0"/>
          </a:p>
        </p:txBody>
      </p:sp>
      <p:sp>
        <p:nvSpPr>
          <p:cNvPr id="7" name="Text 5"/>
          <p:cNvSpPr/>
          <p:nvPr/>
        </p:nvSpPr>
        <p:spPr>
          <a:xfrm>
            <a:off x="960120" y="2880360"/>
            <a:ext cx="4754880" cy="2834640"/>
          </a:xfrm>
          <a:prstGeom prst="rect">
            <a:avLst/>
          </a:prstGeom>
          <a:noFill/>
          <a:ln/>
        </p:spPr>
        <p:txBody>
          <a:bodyPr wrap="square" lIns="0" tIns="0" rIns="0" bIns="0" rtlCol="0" anchor="ctr"/>
          <a:lstStyle/>
          <a:p>
            <a:pPr indent="0" marL="0">
              <a:lnSpc>
                <a:spcPts val="1900"/>
              </a:lnSpc>
              <a:buNone/>
            </a:pPr>
            <a:r>
              <a:rPr lang="en-US" sz="1500" b="1" dirty="0">
                <a:solidFill>
                  <a:srgbClr val="F5F7FA"/>
                </a:solidFill>
                <a:latin typeface="Arial" pitchFamily="34" charset="0"/>
                <a:ea typeface="Arial" pitchFamily="34" charset="-122"/>
                <a:cs typeface="Arial" pitchFamily="34" charset="-120"/>
              </a:rPr>
              <a:t>Our Anchor program is the referee.</a:t>
            </a:r>
            <a:endParaRPr lang="en-US" sz="1500" dirty="0"/>
          </a:p>
          <a:p>
            <a:pPr indent="0" marL="0">
              <a:lnSpc>
                <a:spcPts val="1900"/>
              </a:lnSpc>
              <a:buNone/>
            </a:pPr>
            <a:r>
              <a:rPr lang="en-US" sz="1250" dirty="0">
                <a:solidFill>
                  <a:srgbClr val="97A0AF"/>
                </a:solidFill>
                <a:latin typeface="Arial" pitchFamily="34" charset="0"/>
                <a:ea typeface="Arial" pitchFamily="34" charset="-122"/>
                <a:cs typeface="Arial" pitchFamily="34" charset="-120"/>
              </a:rPr>
              <a:t>settle_market is permissionless and one-shot. It refuses to settle unless a TxLINE proof verifies on-chain, by CPI. There is no admin key. There is no override. We could not cheat our own market if we wanted to.</a:t>
            </a:r>
            <a:endParaRPr lang="en-US" sz="1500" dirty="0"/>
          </a:p>
          <a:p>
            <a:pPr indent="0" marL="0">
              <a:lnSpc>
                <a:spcPts val="1900"/>
              </a:lnSpc>
              <a:buNone/>
            </a:pPr>
            <a:endParaRPr lang="en-US" sz="1500" dirty="0"/>
          </a:p>
          <a:p>
            <a:pPr indent="0" marL="0">
              <a:lnSpc>
                <a:spcPts val="1900"/>
              </a:lnSpc>
              <a:buNone/>
            </a:pPr>
            <a:r>
              <a:rPr lang="en-US" sz="1250" dirty="0">
                <a:solidFill>
                  <a:srgbClr val="97A0AF"/>
                </a:solidFill>
                <a:latin typeface="Arial" pitchFamily="34" charset="0"/>
                <a:ea typeface="Arial" pitchFamily="34" charset="-122"/>
                <a:cs typeface="Arial" pitchFamily="34" charset="-120"/>
              </a:rPr>
              <a:t>Sub-second finality and sub-cent fees are what make per-match settlement, leaderboard roots, and on-chain Moments economically possible at all. On any other chain this product does not exist.</a:t>
            </a:r>
            <a:endParaRPr lang="en-US" sz="1500" dirty="0"/>
          </a:p>
        </p:txBody>
      </p:sp>
      <p:sp>
        <p:nvSpPr>
          <p:cNvPr id="8" name="Shape 6"/>
          <p:cNvSpPr/>
          <p:nvPr/>
        </p:nvSpPr>
        <p:spPr>
          <a:xfrm>
            <a:off x="6172200" y="2148840"/>
            <a:ext cx="5349240" cy="3840480"/>
          </a:xfrm>
          <a:prstGeom prst="roundRect">
            <a:avLst>
              <a:gd name="adj" fmla="val 1905"/>
            </a:avLst>
          </a:prstGeom>
          <a:solidFill>
            <a:srgbClr val="14171C"/>
          </a:solidFill>
          <a:ln w="12700">
            <a:solidFill>
              <a:srgbClr val="2BD97C"/>
            </a:solidFill>
            <a:prstDash val="solid"/>
          </a:ln>
        </p:spPr>
      </p:sp>
      <p:sp>
        <p:nvSpPr>
          <p:cNvPr id="9" name="Shape 7"/>
          <p:cNvSpPr/>
          <p:nvPr/>
        </p:nvSpPr>
        <p:spPr>
          <a:xfrm>
            <a:off x="6492240" y="2423160"/>
            <a:ext cx="274320" cy="274320"/>
          </a:xfrm>
          <a:prstGeom prst="ellipse">
            <a:avLst/>
          </a:prstGeom>
          <a:solidFill>
            <a:srgbClr val="2BD97C"/>
          </a:solidFill>
          <a:ln/>
        </p:spPr>
      </p:sp>
      <p:sp>
        <p:nvSpPr>
          <p:cNvPr id="10" name="Text 8"/>
          <p:cNvSpPr/>
          <p:nvPr/>
        </p:nvSpPr>
        <p:spPr>
          <a:xfrm>
            <a:off x="6903720" y="2404872"/>
            <a:ext cx="3657600" cy="320040"/>
          </a:xfrm>
          <a:prstGeom prst="rect">
            <a:avLst/>
          </a:prstGeom>
          <a:noFill/>
          <a:ln/>
        </p:spPr>
        <p:txBody>
          <a:bodyPr wrap="square" lIns="0" tIns="0" rIns="0" bIns="0" rtlCol="0" anchor="ctr"/>
          <a:lstStyle/>
          <a:p>
            <a:pPr indent="0" marL="0">
              <a:buNone/>
            </a:pPr>
            <a:r>
              <a:rPr lang="en-US" sz="1600" b="1" spc="100" kern="0" dirty="0">
                <a:solidFill>
                  <a:srgbClr val="2BD97C"/>
                </a:solidFill>
                <a:latin typeface="Courier New" pitchFamily="34" charset="0"/>
                <a:ea typeface="Courier New" pitchFamily="34" charset="-122"/>
                <a:cs typeface="Courier New" pitchFamily="34" charset="-120"/>
              </a:rPr>
              <a:t>TxLINE</a:t>
            </a:r>
            <a:endParaRPr lang="en-US" sz="1600" dirty="0"/>
          </a:p>
        </p:txBody>
      </p:sp>
      <p:sp>
        <p:nvSpPr>
          <p:cNvPr id="11" name="Text 9"/>
          <p:cNvSpPr/>
          <p:nvPr/>
        </p:nvSpPr>
        <p:spPr>
          <a:xfrm>
            <a:off x="6492240" y="2880360"/>
            <a:ext cx="4754880" cy="2834640"/>
          </a:xfrm>
          <a:prstGeom prst="rect">
            <a:avLst/>
          </a:prstGeom>
          <a:noFill/>
          <a:ln/>
        </p:spPr>
        <p:txBody>
          <a:bodyPr wrap="square" lIns="0" tIns="0" rIns="0" bIns="0" rtlCol="0" anchor="ctr"/>
          <a:lstStyle/>
          <a:p>
            <a:pPr indent="0" marL="0">
              <a:lnSpc>
                <a:spcPts val="1900"/>
              </a:lnSpc>
              <a:buNone/>
            </a:pPr>
            <a:r>
              <a:rPr lang="en-US" sz="1500" b="1" dirty="0">
                <a:solidFill>
                  <a:srgbClr val="F5F7FA"/>
                </a:solidFill>
                <a:latin typeface="Arial" pitchFamily="34" charset="0"/>
                <a:ea typeface="Arial" pitchFamily="34" charset="-122"/>
                <a:cs typeface="Arial" pitchFamily="34" charset="-120"/>
              </a:rPr>
              <a:t>Every price we quote traces to a signed feed.</a:t>
            </a:r>
            <a:endParaRPr lang="en-US" sz="1500" dirty="0"/>
          </a:p>
          <a:p>
            <a:pPr indent="0" marL="0">
              <a:lnSpc>
                <a:spcPts val="1900"/>
              </a:lnSpc>
              <a:buNone/>
            </a:pPr>
            <a:r>
              <a:rPr lang="en-US" sz="1250" dirty="0">
                <a:solidFill>
                  <a:srgbClr val="97A0AF"/>
                </a:solidFill>
                <a:latin typeface="Arial" pitchFamily="34" charset="0"/>
                <a:ea typeface="Arial" pitchFamily="34" charset="-122"/>
                <a:cs typeface="Arial" pitchFamily="34" charset="-120"/>
              </a:rPr>
              <a:t>Consensus odds de-vigged into fair marks. Live scores that trigger the halt. And the same feed that moves the price is the one that proves the result — cryptographically, on-chain.</a:t>
            </a:r>
            <a:endParaRPr lang="en-US" sz="1500" dirty="0"/>
          </a:p>
          <a:p>
            <a:pPr indent="0" marL="0">
              <a:lnSpc>
                <a:spcPts val="1900"/>
              </a:lnSpc>
              <a:buNone/>
            </a:pPr>
            <a:endParaRPr lang="en-US" sz="1500" dirty="0"/>
          </a:p>
          <a:p>
            <a:pPr indent="0" marL="0">
              <a:lnSpc>
                <a:spcPts val="1900"/>
              </a:lnSpc>
              <a:buNone/>
            </a:pPr>
            <a:r>
              <a:rPr lang="en-US" sz="1250" dirty="0">
                <a:solidFill>
                  <a:srgbClr val="97A0AF"/>
                </a:solidFill>
                <a:latin typeface="Arial" pitchFamily="34" charset="0"/>
                <a:ea typeface="Arial" pitchFamily="34" charset="-122"/>
                <a:cs typeface="Arial" pitchFamily="34" charset="-120"/>
              </a:rPr>
              <a:t>That is the thing no other data provider gives you: the price and the proof come from one source. Nine TxLINE endpoints, live-verified on devnet, every response schema-validated.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The stack</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Seven layers, one law: every input becomes a signed event on the bus. No service calls another directly.</a:t>
            </a:r>
            <a:endParaRPr lang="en-US" sz="1500" dirty="0"/>
          </a:p>
        </p:txBody>
      </p:sp>
      <p:sp>
        <p:nvSpPr>
          <p:cNvPr id="4" name="Shape 2"/>
          <p:cNvSpPr/>
          <p:nvPr/>
        </p:nvSpPr>
        <p:spPr>
          <a:xfrm>
            <a:off x="640080" y="2011680"/>
            <a:ext cx="1600200" cy="457200"/>
          </a:xfrm>
          <a:prstGeom prst="roundRect">
            <a:avLst>
              <a:gd name="adj" fmla="val 12000"/>
            </a:avLst>
          </a:prstGeom>
          <a:solidFill>
            <a:srgbClr val="14171C"/>
          </a:solidFill>
          <a:ln w="12700">
            <a:solidFill>
              <a:srgbClr val="2BD97C"/>
            </a:solidFill>
            <a:prstDash val="solid"/>
          </a:ln>
        </p:spPr>
      </p:sp>
      <p:sp>
        <p:nvSpPr>
          <p:cNvPr id="5" name="Text 3"/>
          <p:cNvSpPr/>
          <p:nvPr/>
        </p:nvSpPr>
        <p:spPr>
          <a:xfrm>
            <a:off x="640080" y="2011680"/>
            <a:ext cx="1600200" cy="457200"/>
          </a:xfrm>
          <a:prstGeom prst="rect">
            <a:avLst/>
          </a:prstGeom>
          <a:noFill/>
          <a:ln/>
        </p:spPr>
        <p:txBody>
          <a:bodyPr wrap="square" lIns="0" tIns="0" rIns="0" bIns="0" rtlCol="0" anchor="ctr"/>
          <a:lstStyle/>
          <a:p>
            <a:pPr algn="ctr" indent="0" marL="0">
              <a:buNone/>
            </a:pPr>
            <a:r>
              <a:rPr lang="en-US" sz="1100" b="1" dirty="0">
                <a:solidFill>
                  <a:srgbClr val="2BD97C"/>
                </a:solidFill>
                <a:latin typeface="Courier New" pitchFamily="34" charset="0"/>
                <a:ea typeface="Courier New" pitchFamily="34" charset="-122"/>
                <a:cs typeface="Courier New" pitchFamily="34" charset="-120"/>
              </a:rPr>
              <a:t>TxLINE</a:t>
            </a:r>
            <a:endParaRPr lang="en-US" sz="1100" dirty="0"/>
          </a:p>
        </p:txBody>
      </p:sp>
      <p:sp>
        <p:nvSpPr>
          <p:cNvPr id="6" name="Text 4"/>
          <p:cNvSpPr/>
          <p:nvPr/>
        </p:nvSpPr>
        <p:spPr>
          <a:xfrm>
            <a:off x="2423160" y="2011680"/>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Signed odds + scores. SSE.</a:t>
            </a:r>
            <a:endParaRPr lang="en-US" sz="1300" dirty="0"/>
          </a:p>
        </p:txBody>
      </p:sp>
      <p:sp>
        <p:nvSpPr>
          <p:cNvPr id="7" name="Shape 5"/>
          <p:cNvSpPr/>
          <p:nvPr/>
        </p:nvSpPr>
        <p:spPr>
          <a:xfrm>
            <a:off x="640080" y="2633472"/>
            <a:ext cx="1600200" cy="457200"/>
          </a:xfrm>
          <a:prstGeom prst="roundRect">
            <a:avLst>
              <a:gd name="adj" fmla="val 12000"/>
            </a:avLst>
          </a:prstGeom>
          <a:solidFill>
            <a:srgbClr val="14171C"/>
          </a:solidFill>
          <a:ln w="12700">
            <a:solidFill>
              <a:srgbClr val="97A0AF"/>
            </a:solidFill>
            <a:prstDash val="solid"/>
          </a:ln>
        </p:spPr>
      </p:sp>
      <p:sp>
        <p:nvSpPr>
          <p:cNvPr id="8" name="Text 6"/>
          <p:cNvSpPr/>
          <p:nvPr/>
        </p:nvSpPr>
        <p:spPr>
          <a:xfrm>
            <a:off x="640080" y="2633472"/>
            <a:ext cx="1600200" cy="457200"/>
          </a:xfrm>
          <a:prstGeom prst="rect">
            <a:avLst/>
          </a:prstGeom>
          <a:noFill/>
          <a:ln/>
        </p:spPr>
        <p:txBody>
          <a:bodyPr wrap="square" lIns="0" tIns="0" rIns="0" bIns="0" rtlCol="0" anchor="ctr"/>
          <a:lstStyle/>
          <a:p>
            <a:pPr algn="ctr" indent="0" marL="0">
              <a:buNone/>
            </a:pPr>
            <a:r>
              <a:rPr lang="en-US" sz="1100" b="1" dirty="0">
                <a:solidFill>
                  <a:srgbClr val="97A0AF"/>
                </a:solidFill>
                <a:latin typeface="Courier New" pitchFamily="34" charset="0"/>
                <a:ea typeface="Courier New" pitchFamily="34" charset="-122"/>
                <a:cs typeface="Courier New" pitchFamily="34" charset="-120"/>
              </a:rPr>
              <a:t>INGEST</a:t>
            </a:r>
            <a:endParaRPr lang="en-US" sz="1100" dirty="0"/>
          </a:p>
        </p:txBody>
      </p:sp>
      <p:sp>
        <p:nvSpPr>
          <p:cNvPr id="9" name="Text 7"/>
          <p:cNvSpPr/>
          <p:nvPr/>
        </p:nvSpPr>
        <p:spPr>
          <a:xfrm>
            <a:off x="2423160" y="2633472"/>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Normalise → bus. Gap recovery, exactly-once.</a:t>
            </a:r>
            <a:endParaRPr lang="en-US" sz="1300" dirty="0"/>
          </a:p>
        </p:txBody>
      </p:sp>
      <p:sp>
        <p:nvSpPr>
          <p:cNvPr id="10" name="Shape 8"/>
          <p:cNvSpPr/>
          <p:nvPr/>
        </p:nvSpPr>
        <p:spPr>
          <a:xfrm>
            <a:off x="640080" y="3255264"/>
            <a:ext cx="1600200" cy="457200"/>
          </a:xfrm>
          <a:prstGeom prst="roundRect">
            <a:avLst>
              <a:gd name="adj" fmla="val 12000"/>
            </a:avLst>
          </a:prstGeom>
          <a:solidFill>
            <a:srgbClr val="14171C"/>
          </a:solidFill>
          <a:ln w="12700">
            <a:solidFill>
              <a:srgbClr val="97A0AF"/>
            </a:solidFill>
            <a:prstDash val="solid"/>
          </a:ln>
        </p:spPr>
      </p:sp>
      <p:sp>
        <p:nvSpPr>
          <p:cNvPr id="11" name="Text 9"/>
          <p:cNvSpPr/>
          <p:nvPr/>
        </p:nvSpPr>
        <p:spPr>
          <a:xfrm>
            <a:off x="640080" y="3255264"/>
            <a:ext cx="1600200" cy="457200"/>
          </a:xfrm>
          <a:prstGeom prst="rect">
            <a:avLst/>
          </a:prstGeom>
          <a:noFill/>
          <a:ln/>
        </p:spPr>
        <p:txBody>
          <a:bodyPr wrap="square" lIns="0" tIns="0" rIns="0" bIns="0" rtlCol="0" anchor="ctr"/>
          <a:lstStyle/>
          <a:p>
            <a:pPr algn="ctr" indent="0" marL="0">
              <a:buNone/>
            </a:pPr>
            <a:r>
              <a:rPr lang="en-US" sz="1100" b="1" dirty="0">
                <a:solidFill>
                  <a:srgbClr val="97A0AF"/>
                </a:solidFill>
                <a:latin typeface="Courier New" pitchFamily="34" charset="0"/>
                <a:ea typeface="Courier New" pitchFamily="34" charset="-122"/>
                <a:cs typeface="Courier New" pitchFamily="34" charset="-120"/>
              </a:rPr>
              <a:t>CORTEX</a:t>
            </a:r>
            <a:endParaRPr lang="en-US" sz="1100" dirty="0"/>
          </a:p>
        </p:txBody>
      </p:sp>
      <p:sp>
        <p:nvSpPr>
          <p:cNvPr id="12" name="Text 10"/>
          <p:cNvSpPr/>
          <p:nvPr/>
        </p:nvSpPr>
        <p:spPr>
          <a:xfrm>
            <a:off x="2423160" y="3255264"/>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Python. Shin de-vig → fair marks + hazard.</a:t>
            </a:r>
            <a:endParaRPr lang="en-US" sz="1300" dirty="0"/>
          </a:p>
        </p:txBody>
      </p:sp>
      <p:sp>
        <p:nvSpPr>
          <p:cNvPr id="13" name="Shape 11"/>
          <p:cNvSpPr/>
          <p:nvPr/>
        </p:nvSpPr>
        <p:spPr>
          <a:xfrm>
            <a:off x="640080" y="3877056"/>
            <a:ext cx="1600200" cy="457200"/>
          </a:xfrm>
          <a:prstGeom prst="roundRect">
            <a:avLst>
              <a:gd name="adj" fmla="val 12000"/>
            </a:avLst>
          </a:prstGeom>
          <a:solidFill>
            <a:srgbClr val="14171C"/>
          </a:solidFill>
          <a:ln w="12700">
            <a:solidFill>
              <a:srgbClr val="F5F7FA"/>
            </a:solidFill>
            <a:prstDash val="solid"/>
          </a:ln>
        </p:spPr>
      </p:sp>
      <p:sp>
        <p:nvSpPr>
          <p:cNvPr id="14" name="Text 12"/>
          <p:cNvSpPr/>
          <p:nvPr/>
        </p:nvSpPr>
        <p:spPr>
          <a:xfrm>
            <a:off x="640080" y="3877056"/>
            <a:ext cx="1600200" cy="457200"/>
          </a:xfrm>
          <a:prstGeom prst="rect">
            <a:avLst/>
          </a:prstGeom>
          <a:noFill/>
          <a:ln/>
        </p:spPr>
        <p:txBody>
          <a:bodyPr wrap="square" lIns="0" tIns="0" rIns="0" bIns="0" rtlCol="0" anchor="ctr"/>
          <a:lstStyle/>
          <a:p>
            <a:pPr algn="ctr" indent="0" marL="0">
              <a:buNone/>
            </a:pPr>
            <a:r>
              <a:rPr lang="en-US" sz="1100" b="1" dirty="0">
                <a:solidFill>
                  <a:srgbClr val="F5F7FA"/>
                </a:solidFill>
                <a:latin typeface="Courier New" pitchFamily="34" charset="0"/>
                <a:ea typeface="Courier New" pitchFamily="34" charset="-122"/>
                <a:cs typeface="Courier New" pitchFamily="34" charset="-120"/>
              </a:rPr>
              <a:t>ENGINE</a:t>
            </a:r>
            <a:endParaRPr lang="en-US" sz="1100" dirty="0"/>
          </a:p>
        </p:txBody>
      </p:sp>
      <p:sp>
        <p:nvSpPr>
          <p:cNvPr id="15" name="Text 13"/>
          <p:cNvSpPr/>
          <p:nvPr/>
        </p:nvSpPr>
        <p:spPr>
          <a:xfrm>
            <a:off x="2423160" y="3877056"/>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LMSR. Single-writer. Journal-then-ack.</a:t>
            </a:r>
            <a:endParaRPr lang="en-US" sz="1300" dirty="0"/>
          </a:p>
        </p:txBody>
      </p:sp>
      <p:sp>
        <p:nvSpPr>
          <p:cNvPr id="16" name="Shape 14"/>
          <p:cNvSpPr/>
          <p:nvPr/>
        </p:nvSpPr>
        <p:spPr>
          <a:xfrm>
            <a:off x="640080" y="4498848"/>
            <a:ext cx="1600200" cy="457200"/>
          </a:xfrm>
          <a:prstGeom prst="roundRect">
            <a:avLst>
              <a:gd name="adj" fmla="val 12000"/>
            </a:avLst>
          </a:prstGeom>
          <a:solidFill>
            <a:srgbClr val="14171C"/>
          </a:solidFill>
          <a:ln w="12700">
            <a:solidFill>
              <a:srgbClr val="97A0AF"/>
            </a:solidFill>
            <a:prstDash val="solid"/>
          </a:ln>
        </p:spPr>
      </p:sp>
      <p:sp>
        <p:nvSpPr>
          <p:cNvPr id="17" name="Text 15"/>
          <p:cNvSpPr/>
          <p:nvPr/>
        </p:nvSpPr>
        <p:spPr>
          <a:xfrm>
            <a:off x="640080" y="4498848"/>
            <a:ext cx="1600200" cy="457200"/>
          </a:xfrm>
          <a:prstGeom prst="rect">
            <a:avLst/>
          </a:prstGeom>
          <a:noFill/>
          <a:ln/>
        </p:spPr>
        <p:txBody>
          <a:bodyPr wrap="square" lIns="0" tIns="0" rIns="0" bIns="0" rtlCol="0" anchor="ctr"/>
          <a:lstStyle/>
          <a:p>
            <a:pPr algn="ctr" indent="0" marL="0">
              <a:buNone/>
            </a:pPr>
            <a:r>
              <a:rPr lang="en-US" sz="1100" b="1" dirty="0">
                <a:solidFill>
                  <a:srgbClr val="97A0AF"/>
                </a:solidFill>
                <a:latin typeface="Courier New" pitchFamily="34" charset="0"/>
                <a:ea typeface="Courier New" pitchFamily="34" charset="-122"/>
                <a:cs typeface="Courier New" pitchFamily="34" charset="-120"/>
              </a:rPr>
              <a:t>API + WS</a:t>
            </a:r>
            <a:endParaRPr lang="en-US" sz="1100" dirty="0"/>
          </a:p>
        </p:txBody>
      </p:sp>
      <p:sp>
        <p:nvSpPr>
          <p:cNvPr id="18" name="Text 16"/>
          <p:cNvSpPr/>
          <p:nvPr/>
        </p:nvSpPr>
        <p:spPr>
          <a:xfrm>
            <a:off x="2423160" y="4498848"/>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Fastify. Read model. Live tape.</a:t>
            </a:r>
            <a:endParaRPr lang="en-US" sz="1300" dirty="0"/>
          </a:p>
        </p:txBody>
      </p:sp>
      <p:sp>
        <p:nvSpPr>
          <p:cNvPr id="19" name="Shape 17"/>
          <p:cNvSpPr/>
          <p:nvPr/>
        </p:nvSpPr>
        <p:spPr>
          <a:xfrm>
            <a:off x="640080" y="5120640"/>
            <a:ext cx="1600200" cy="457200"/>
          </a:xfrm>
          <a:prstGeom prst="roundRect">
            <a:avLst>
              <a:gd name="adj" fmla="val 12000"/>
            </a:avLst>
          </a:prstGeom>
          <a:solidFill>
            <a:srgbClr val="14171C"/>
          </a:solidFill>
          <a:ln w="12700">
            <a:solidFill>
              <a:srgbClr val="9D6BFF"/>
            </a:solidFill>
            <a:prstDash val="solid"/>
          </a:ln>
        </p:spPr>
      </p:sp>
      <p:sp>
        <p:nvSpPr>
          <p:cNvPr id="20" name="Text 18"/>
          <p:cNvSpPr/>
          <p:nvPr/>
        </p:nvSpPr>
        <p:spPr>
          <a:xfrm>
            <a:off x="640080" y="5120640"/>
            <a:ext cx="1600200" cy="457200"/>
          </a:xfrm>
          <a:prstGeom prst="rect">
            <a:avLst/>
          </a:prstGeom>
          <a:noFill/>
          <a:ln/>
        </p:spPr>
        <p:txBody>
          <a:bodyPr wrap="square" lIns="0" tIns="0" rIns="0" bIns="0" rtlCol="0" anchor="ctr"/>
          <a:lstStyle/>
          <a:p>
            <a:pPr algn="ctr" indent="0" marL="0">
              <a:buNone/>
            </a:pPr>
            <a:r>
              <a:rPr lang="en-US" sz="1100" b="1" dirty="0">
                <a:solidFill>
                  <a:srgbClr val="9D6BFF"/>
                </a:solidFill>
                <a:latin typeface="Courier New" pitchFamily="34" charset="0"/>
                <a:ea typeface="Courier New" pitchFamily="34" charset="-122"/>
                <a:cs typeface="Courier New" pitchFamily="34" charset="-120"/>
              </a:rPr>
              <a:t>SOLANA</a:t>
            </a:r>
            <a:endParaRPr lang="en-US" sz="1100" dirty="0"/>
          </a:p>
        </p:txBody>
      </p:sp>
      <p:sp>
        <p:nvSpPr>
          <p:cNvPr id="21" name="Text 19"/>
          <p:cNvSpPr/>
          <p:nvPr/>
        </p:nvSpPr>
        <p:spPr>
          <a:xfrm>
            <a:off x="2423160" y="5120640"/>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Anchor. Proof-verified settlement.</a:t>
            </a:r>
            <a:endParaRPr lang="en-US" sz="1300" dirty="0"/>
          </a:p>
        </p:txBody>
      </p:sp>
      <p:sp>
        <p:nvSpPr>
          <p:cNvPr id="22" name="Shape 20"/>
          <p:cNvSpPr/>
          <p:nvPr/>
        </p:nvSpPr>
        <p:spPr>
          <a:xfrm>
            <a:off x="640080" y="5742432"/>
            <a:ext cx="1600200" cy="457200"/>
          </a:xfrm>
          <a:prstGeom prst="roundRect">
            <a:avLst>
              <a:gd name="adj" fmla="val 12000"/>
            </a:avLst>
          </a:prstGeom>
          <a:solidFill>
            <a:srgbClr val="14171C"/>
          </a:solidFill>
          <a:ln w="12700">
            <a:solidFill>
              <a:srgbClr val="F5F7FA"/>
            </a:solidFill>
            <a:prstDash val="solid"/>
          </a:ln>
        </p:spPr>
      </p:sp>
      <p:sp>
        <p:nvSpPr>
          <p:cNvPr id="23" name="Text 21"/>
          <p:cNvSpPr/>
          <p:nvPr/>
        </p:nvSpPr>
        <p:spPr>
          <a:xfrm>
            <a:off x="640080" y="5742432"/>
            <a:ext cx="1600200" cy="457200"/>
          </a:xfrm>
          <a:prstGeom prst="rect">
            <a:avLst/>
          </a:prstGeom>
          <a:noFill/>
          <a:ln/>
        </p:spPr>
        <p:txBody>
          <a:bodyPr wrap="square" lIns="0" tIns="0" rIns="0" bIns="0" rtlCol="0" anchor="ctr"/>
          <a:lstStyle/>
          <a:p>
            <a:pPr algn="ctr" indent="0" marL="0">
              <a:buNone/>
            </a:pPr>
            <a:r>
              <a:rPr lang="en-US" sz="1100" b="1" dirty="0">
                <a:solidFill>
                  <a:srgbClr val="F5F7FA"/>
                </a:solidFill>
                <a:latin typeface="Courier New" pitchFamily="34" charset="0"/>
                <a:ea typeface="Courier New" pitchFamily="34" charset="-122"/>
                <a:cs typeface="Courier New" pitchFamily="34" charset="-120"/>
              </a:rPr>
              <a:t>WEB</a:t>
            </a:r>
            <a:endParaRPr lang="en-US" sz="1100" dirty="0"/>
          </a:p>
        </p:txBody>
      </p:sp>
      <p:sp>
        <p:nvSpPr>
          <p:cNvPr id="24" name="Text 22"/>
          <p:cNvSpPr/>
          <p:nvPr/>
        </p:nvSpPr>
        <p:spPr>
          <a:xfrm>
            <a:off x="2423160" y="5742432"/>
            <a:ext cx="4846320" cy="45720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Next 15. The board + the Terminal.</a:t>
            </a:r>
            <a:endParaRPr lang="en-US" sz="1300" dirty="0"/>
          </a:p>
        </p:txBody>
      </p:sp>
      <p:sp>
        <p:nvSpPr>
          <p:cNvPr id="25" name="Shape 23"/>
          <p:cNvSpPr/>
          <p:nvPr/>
        </p:nvSpPr>
        <p:spPr>
          <a:xfrm>
            <a:off x="7680960" y="2011680"/>
            <a:ext cx="3840480" cy="4343400"/>
          </a:xfrm>
          <a:prstGeom prst="roundRect">
            <a:avLst>
              <a:gd name="adj" fmla="val 1905"/>
            </a:avLst>
          </a:prstGeom>
          <a:solidFill>
            <a:srgbClr val="14171C"/>
          </a:solidFill>
          <a:ln w="12700">
            <a:solidFill>
              <a:srgbClr val="232A33"/>
            </a:solidFill>
            <a:prstDash val="solid"/>
          </a:ln>
        </p:spPr>
      </p:sp>
      <p:sp>
        <p:nvSpPr>
          <p:cNvPr id="26" name="Text 24"/>
          <p:cNvSpPr/>
          <p:nvPr/>
        </p:nvSpPr>
        <p:spPr>
          <a:xfrm>
            <a:off x="7955280" y="2286000"/>
            <a:ext cx="1737360" cy="685800"/>
          </a:xfrm>
          <a:prstGeom prst="rect">
            <a:avLst/>
          </a:prstGeom>
          <a:noFill/>
          <a:ln/>
        </p:spPr>
        <p:txBody>
          <a:bodyPr wrap="square" lIns="0" tIns="0" rIns="0" bIns="0" rtlCol="0" anchor="ctr"/>
          <a:lstStyle/>
          <a:p>
            <a:pPr indent="0" marL="0">
              <a:buNone/>
            </a:pPr>
            <a:r>
              <a:rPr lang="en-US" sz="4000" b="1" dirty="0">
                <a:solidFill>
                  <a:srgbClr val="2BD97C"/>
                </a:solidFill>
                <a:latin typeface="Courier New" pitchFamily="34" charset="0"/>
                <a:ea typeface="Courier New" pitchFamily="34" charset="-122"/>
                <a:cs typeface="Courier New" pitchFamily="34" charset="-120"/>
              </a:rPr>
              <a:t>81</a:t>
            </a:r>
            <a:endParaRPr lang="en-US" sz="4000" dirty="0"/>
          </a:p>
        </p:txBody>
      </p:sp>
      <p:sp>
        <p:nvSpPr>
          <p:cNvPr id="27" name="Text 25"/>
          <p:cNvSpPr/>
          <p:nvPr/>
        </p:nvSpPr>
        <p:spPr>
          <a:xfrm>
            <a:off x="9601200" y="2560320"/>
            <a:ext cx="1737360" cy="36576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commits</a:t>
            </a:r>
            <a:endParaRPr lang="en-US" sz="1300" dirty="0"/>
          </a:p>
        </p:txBody>
      </p:sp>
      <p:sp>
        <p:nvSpPr>
          <p:cNvPr id="28" name="Text 26"/>
          <p:cNvSpPr/>
          <p:nvPr/>
        </p:nvSpPr>
        <p:spPr>
          <a:xfrm>
            <a:off x="7955280" y="3337560"/>
            <a:ext cx="1737360" cy="685800"/>
          </a:xfrm>
          <a:prstGeom prst="rect">
            <a:avLst/>
          </a:prstGeom>
          <a:noFill/>
          <a:ln/>
        </p:spPr>
        <p:txBody>
          <a:bodyPr wrap="square" lIns="0" tIns="0" rIns="0" bIns="0" rtlCol="0" anchor="ctr"/>
          <a:lstStyle/>
          <a:p>
            <a:pPr indent="0" marL="0">
              <a:buNone/>
            </a:pPr>
            <a:r>
              <a:rPr lang="en-US" sz="4000" b="1" dirty="0">
                <a:solidFill>
                  <a:srgbClr val="2BD97C"/>
                </a:solidFill>
                <a:latin typeface="Courier New" pitchFamily="34" charset="0"/>
                <a:ea typeface="Courier New" pitchFamily="34" charset="-122"/>
                <a:cs typeface="Courier New" pitchFamily="34" charset="-120"/>
              </a:rPr>
              <a:t>53</a:t>
            </a:r>
            <a:endParaRPr lang="en-US" sz="4000" dirty="0"/>
          </a:p>
        </p:txBody>
      </p:sp>
      <p:sp>
        <p:nvSpPr>
          <p:cNvPr id="29" name="Text 27"/>
          <p:cNvSpPr/>
          <p:nvPr/>
        </p:nvSpPr>
        <p:spPr>
          <a:xfrm>
            <a:off x="9601200" y="3611880"/>
            <a:ext cx="1737360" cy="36576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ADRs</a:t>
            </a:r>
            <a:endParaRPr lang="en-US" sz="1300" dirty="0"/>
          </a:p>
        </p:txBody>
      </p:sp>
      <p:sp>
        <p:nvSpPr>
          <p:cNvPr id="30" name="Text 28"/>
          <p:cNvSpPr/>
          <p:nvPr/>
        </p:nvSpPr>
        <p:spPr>
          <a:xfrm>
            <a:off x="7955280" y="4389120"/>
            <a:ext cx="1737360" cy="685800"/>
          </a:xfrm>
          <a:prstGeom prst="rect">
            <a:avLst/>
          </a:prstGeom>
          <a:noFill/>
          <a:ln/>
        </p:spPr>
        <p:txBody>
          <a:bodyPr wrap="square" lIns="0" tIns="0" rIns="0" bIns="0" rtlCol="0" anchor="ctr"/>
          <a:lstStyle/>
          <a:p>
            <a:pPr indent="0" marL="0">
              <a:buNone/>
            </a:pPr>
            <a:r>
              <a:rPr lang="en-US" sz="4000" b="1" dirty="0">
                <a:solidFill>
                  <a:srgbClr val="2BD97C"/>
                </a:solidFill>
                <a:latin typeface="Courier New" pitchFamily="34" charset="0"/>
                <a:ea typeface="Courier New" pitchFamily="34" charset="-122"/>
                <a:cs typeface="Courier New" pitchFamily="34" charset="-120"/>
              </a:rPr>
              <a:t>7</a:t>
            </a:r>
            <a:endParaRPr lang="en-US" sz="4000" dirty="0"/>
          </a:p>
        </p:txBody>
      </p:sp>
      <p:sp>
        <p:nvSpPr>
          <p:cNvPr id="31" name="Text 29"/>
          <p:cNvSpPr/>
          <p:nvPr/>
        </p:nvSpPr>
        <p:spPr>
          <a:xfrm>
            <a:off x="9601200" y="4663440"/>
            <a:ext cx="1737360" cy="36576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days</a:t>
            </a:r>
            <a:endParaRPr lang="en-US" sz="1300" dirty="0"/>
          </a:p>
        </p:txBody>
      </p:sp>
      <p:sp>
        <p:nvSpPr>
          <p:cNvPr id="32" name="Text 30"/>
          <p:cNvSpPr/>
          <p:nvPr/>
        </p:nvSpPr>
        <p:spPr>
          <a:xfrm>
            <a:off x="7955280" y="5440680"/>
            <a:ext cx="1737360" cy="685800"/>
          </a:xfrm>
          <a:prstGeom prst="rect">
            <a:avLst/>
          </a:prstGeom>
          <a:noFill/>
          <a:ln/>
        </p:spPr>
        <p:txBody>
          <a:bodyPr wrap="square" lIns="0" tIns="0" rIns="0" bIns="0" rtlCol="0" anchor="ctr"/>
          <a:lstStyle/>
          <a:p>
            <a:pPr indent="0" marL="0">
              <a:buNone/>
            </a:pPr>
            <a:r>
              <a:rPr lang="en-US" sz="4000" b="1" dirty="0">
                <a:solidFill>
                  <a:srgbClr val="2BD97C"/>
                </a:solidFill>
                <a:latin typeface="Courier New" pitchFamily="34" charset="0"/>
                <a:ea typeface="Courier New" pitchFamily="34" charset="-122"/>
                <a:cs typeface="Courier New" pitchFamily="34" charset="-120"/>
              </a:rPr>
              <a:t>407</a:t>
            </a:r>
            <a:endParaRPr lang="en-US" sz="4000" dirty="0"/>
          </a:p>
        </p:txBody>
      </p:sp>
      <p:sp>
        <p:nvSpPr>
          <p:cNvPr id="33" name="Text 31"/>
          <p:cNvSpPr/>
          <p:nvPr/>
        </p:nvSpPr>
        <p:spPr>
          <a:xfrm>
            <a:off x="9601200" y="5715000"/>
            <a:ext cx="1737360" cy="365760"/>
          </a:xfrm>
          <a:prstGeom prst="rect">
            <a:avLst/>
          </a:prstGeom>
          <a:noFill/>
          <a:ln/>
        </p:spPr>
        <p:txBody>
          <a:bodyPr wrap="square" lIns="0" tIns="0" rIns="0" bIns="0" rtlCol="0" anchor="ctr"/>
          <a:lstStyle/>
          <a:p>
            <a:pPr indent="0" marL="0">
              <a:buNone/>
            </a:pPr>
            <a:r>
              <a:rPr lang="en-US" sz="1300" dirty="0">
                <a:solidFill>
                  <a:srgbClr val="97A0AF"/>
                </a:solidFill>
                <a:latin typeface="Arial" pitchFamily="34" charset="0"/>
                <a:ea typeface="Arial" pitchFamily="34" charset="-122"/>
                <a:cs typeface="Arial" pitchFamily="34" charset="-120"/>
              </a:rPr>
              <a:t>source files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Built for a fan, not a quant.</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The terminal is the engine. This is the experience wrapped around it.</a:t>
            </a:r>
            <a:endParaRPr lang="en-US" sz="1500" dirty="0"/>
          </a:p>
        </p:txBody>
      </p:sp>
      <p:sp>
        <p:nvSpPr>
          <p:cNvPr id="4" name="Shape 2"/>
          <p:cNvSpPr/>
          <p:nvPr/>
        </p:nvSpPr>
        <p:spPr>
          <a:xfrm>
            <a:off x="640080" y="2103120"/>
            <a:ext cx="5257800" cy="1828800"/>
          </a:xfrm>
          <a:prstGeom prst="roundRect">
            <a:avLst>
              <a:gd name="adj" fmla="val 4000"/>
            </a:avLst>
          </a:prstGeom>
          <a:solidFill>
            <a:srgbClr val="14171C"/>
          </a:solidFill>
          <a:ln w="12700">
            <a:solidFill>
              <a:srgbClr val="9D6BFF"/>
            </a:solidFill>
            <a:prstDash val="solid"/>
          </a:ln>
        </p:spPr>
      </p:sp>
      <p:sp>
        <p:nvSpPr>
          <p:cNvPr id="5" name="Text 3"/>
          <p:cNvSpPr/>
          <p:nvPr/>
        </p:nvSpPr>
        <p:spPr>
          <a:xfrm>
            <a:off x="960120" y="2377440"/>
            <a:ext cx="4617720" cy="365760"/>
          </a:xfrm>
          <a:prstGeom prst="rect">
            <a:avLst/>
          </a:prstGeom>
          <a:noFill/>
          <a:ln/>
        </p:spPr>
        <p:txBody>
          <a:bodyPr wrap="square" lIns="0" tIns="0" rIns="0" bIns="0" rtlCol="0" anchor="ctr"/>
          <a:lstStyle/>
          <a:p>
            <a:pPr indent="0" marL="0">
              <a:buNone/>
            </a:pPr>
            <a:r>
              <a:rPr lang="en-US" sz="1800" b="1" dirty="0">
                <a:solidFill>
                  <a:srgbClr val="9D6BFF"/>
                </a:solidFill>
                <a:latin typeface="Arial" pitchFamily="34" charset="0"/>
                <a:ea typeface="Arial" pitchFamily="34" charset="-122"/>
                <a:cs typeface="Arial" pitchFamily="34" charset="-120"/>
              </a:rPr>
              <a:t>Wallet, or no wallet</a:t>
            </a:r>
            <a:endParaRPr lang="en-US" sz="1800" dirty="0"/>
          </a:p>
        </p:txBody>
      </p:sp>
      <p:sp>
        <p:nvSpPr>
          <p:cNvPr id="6" name="Text 4"/>
          <p:cNvSpPr/>
          <p:nvPr/>
        </p:nvSpPr>
        <p:spPr>
          <a:xfrm>
            <a:off x="960120" y="2852928"/>
            <a:ext cx="4617720" cy="91440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Phantom if you want it. Email-and-OTP if you don't. A custodial key is derived for you — you're trading in ten seconds, not ten minutes.</a:t>
            </a:r>
            <a:endParaRPr lang="en-US" sz="1300" dirty="0"/>
          </a:p>
        </p:txBody>
      </p:sp>
      <p:sp>
        <p:nvSpPr>
          <p:cNvPr id="7" name="Shape 5"/>
          <p:cNvSpPr/>
          <p:nvPr/>
        </p:nvSpPr>
        <p:spPr>
          <a:xfrm>
            <a:off x="6172200" y="2103120"/>
            <a:ext cx="5257800" cy="1828800"/>
          </a:xfrm>
          <a:prstGeom prst="roundRect">
            <a:avLst>
              <a:gd name="adj" fmla="val 4000"/>
            </a:avLst>
          </a:prstGeom>
          <a:solidFill>
            <a:srgbClr val="14171C"/>
          </a:solidFill>
          <a:ln w="12700">
            <a:solidFill>
              <a:srgbClr val="2BD97C"/>
            </a:solidFill>
            <a:prstDash val="solid"/>
          </a:ln>
        </p:spPr>
      </p:sp>
      <p:sp>
        <p:nvSpPr>
          <p:cNvPr id="8" name="Text 6"/>
          <p:cNvSpPr/>
          <p:nvPr/>
        </p:nvSpPr>
        <p:spPr>
          <a:xfrm>
            <a:off x="6492240" y="2377440"/>
            <a:ext cx="4617720" cy="365760"/>
          </a:xfrm>
          <a:prstGeom prst="rect">
            <a:avLst/>
          </a:prstGeom>
          <a:noFill/>
          <a:ln/>
        </p:spPr>
        <p:txBody>
          <a:bodyPr wrap="square" lIns="0" tIns="0" rIns="0" bIns="0" rtlCol="0" anchor="ctr"/>
          <a:lstStyle/>
          <a:p>
            <a:pPr indent="0" marL="0">
              <a:buNone/>
            </a:pPr>
            <a:r>
              <a:rPr lang="en-US" sz="1800" b="1" dirty="0">
                <a:solidFill>
                  <a:srgbClr val="2BD97C"/>
                </a:solidFill>
                <a:latin typeface="Arial" pitchFamily="34" charset="0"/>
                <a:ea typeface="Arial" pitchFamily="34" charset="-122"/>
                <a:cs typeface="Arial" pitchFamily="34" charset="-120"/>
              </a:rPr>
              <a:t>Free games on the live feed</a:t>
            </a:r>
            <a:endParaRPr lang="en-US" sz="1800" dirty="0"/>
          </a:p>
        </p:txBody>
      </p:sp>
      <p:sp>
        <p:nvSpPr>
          <p:cNvPr id="9" name="Text 7"/>
          <p:cNvSpPr/>
          <p:nvPr/>
        </p:nvSpPr>
        <p:spPr>
          <a:xfrm>
            <a:off x="6492240" y="2852928"/>
            <a:ext cx="4617720" cy="91440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Next Goal. Beat the Market. Bracket Pick'em — scored by an on-chain proof, not by us.</a:t>
            </a:r>
            <a:endParaRPr lang="en-US" sz="1300" dirty="0"/>
          </a:p>
        </p:txBody>
      </p:sp>
      <p:sp>
        <p:nvSpPr>
          <p:cNvPr id="10" name="Shape 8"/>
          <p:cNvSpPr/>
          <p:nvPr/>
        </p:nvSpPr>
        <p:spPr>
          <a:xfrm>
            <a:off x="640080" y="4206240"/>
            <a:ext cx="5257800" cy="1828800"/>
          </a:xfrm>
          <a:prstGeom prst="roundRect">
            <a:avLst>
              <a:gd name="adj" fmla="val 4000"/>
            </a:avLst>
          </a:prstGeom>
          <a:solidFill>
            <a:srgbClr val="14171C"/>
          </a:solidFill>
          <a:ln w="12700">
            <a:solidFill>
              <a:srgbClr val="9D6BFF"/>
            </a:solidFill>
            <a:prstDash val="solid"/>
          </a:ln>
        </p:spPr>
      </p:sp>
      <p:sp>
        <p:nvSpPr>
          <p:cNvPr id="11" name="Text 9"/>
          <p:cNvSpPr/>
          <p:nvPr/>
        </p:nvSpPr>
        <p:spPr>
          <a:xfrm>
            <a:off x="960120" y="4480560"/>
            <a:ext cx="4617720" cy="365760"/>
          </a:xfrm>
          <a:prstGeom prst="rect">
            <a:avLst/>
          </a:prstGeom>
          <a:noFill/>
          <a:ln/>
        </p:spPr>
        <p:txBody>
          <a:bodyPr wrap="square" lIns="0" tIns="0" rIns="0" bIns="0" rtlCol="0" anchor="ctr"/>
          <a:lstStyle/>
          <a:p>
            <a:pPr indent="0" marL="0">
              <a:buNone/>
            </a:pPr>
            <a:r>
              <a:rPr lang="en-US" sz="1800" b="1" dirty="0">
                <a:solidFill>
                  <a:srgbClr val="9D6BFF"/>
                </a:solidFill>
                <a:latin typeface="Arial" pitchFamily="34" charset="0"/>
                <a:ea typeface="Arial" pitchFamily="34" charset="-122"/>
                <a:cs typeface="Arial" pitchFamily="34" charset="-120"/>
              </a:rPr>
              <a:t>Moments</a:t>
            </a:r>
            <a:endParaRPr lang="en-US" sz="1800" dirty="0"/>
          </a:p>
        </p:txBody>
      </p:sp>
      <p:sp>
        <p:nvSpPr>
          <p:cNvPr id="12" name="Text 10"/>
          <p:cNvSpPr/>
          <p:nvPr/>
        </p:nvSpPr>
        <p:spPr>
          <a:xfrm>
            <a:off x="960120" y="4956048"/>
            <a:ext cx="4617720" cy="91440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The biggest swing of the match, rendered as a card. Yours to keep, minted on Solana.</a:t>
            </a:r>
            <a:endParaRPr lang="en-US" sz="1300" dirty="0"/>
          </a:p>
        </p:txBody>
      </p:sp>
      <p:sp>
        <p:nvSpPr>
          <p:cNvPr id="13" name="Shape 11"/>
          <p:cNvSpPr/>
          <p:nvPr/>
        </p:nvSpPr>
        <p:spPr>
          <a:xfrm>
            <a:off x="6172200" y="4206240"/>
            <a:ext cx="5257800" cy="1828800"/>
          </a:xfrm>
          <a:prstGeom prst="roundRect">
            <a:avLst>
              <a:gd name="adj" fmla="val 4000"/>
            </a:avLst>
          </a:prstGeom>
          <a:solidFill>
            <a:srgbClr val="14171C"/>
          </a:solidFill>
          <a:ln w="12700">
            <a:solidFill>
              <a:srgbClr val="F5F7FA"/>
            </a:solidFill>
            <a:prstDash val="solid"/>
          </a:ln>
        </p:spPr>
      </p:sp>
      <p:sp>
        <p:nvSpPr>
          <p:cNvPr id="14" name="Text 12"/>
          <p:cNvSpPr/>
          <p:nvPr/>
        </p:nvSpPr>
        <p:spPr>
          <a:xfrm>
            <a:off x="6492240" y="4480560"/>
            <a:ext cx="4617720" cy="365760"/>
          </a:xfrm>
          <a:prstGeom prst="rect">
            <a:avLst/>
          </a:prstGeom>
          <a:noFill/>
          <a:ln/>
        </p:spPr>
        <p:txBody>
          <a:bodyPr wrap="square" lIns="0" tIns="0" rIns="0" bIns="0" rtlCol="0" anchor="ctr"/>
          <a:lstStyle/>
          <a:p>
            <a:pPr indent="0" marL="0">
              <a:buNone/>
            </a:pPr>
            <a:r>
              <a:rPr lang="en-US" sz="1800" b="1" dirty="0">
                <a:solidFill>
                  <a:srgbClr val="F5F7FA"/>
                </a:solidFill>
                <a:latin typeface="Arial" pitchFamily="34" charset="0"/>
                <a:ea typeface="Arial" pitchFamily="34" charset="-122"/>
                <a:cs typeface="Arial" pitchFamily="34" charset="-120"/>
              </a:rPr>
              <a:t>The whole tournament</a:t>
            </a:r>
            <a:endParaRPr lang="en-US" sz="1800" dirty="0"/>
          </a:p>
        </p:txBody>
      </p:sp>
      <p:sp>
        <p:nvSpPr>
          <p:cNvPr id="15" name="Text 13"/>
          <p:cNvSpPr/>
          <p:nvPr/>
        </p:nvSpPr>
        <p:spPr>
          <a:xfrm>
            <a:off x="6492240" y="4956048"/>
            <a:ext cx="4617720" cy="91440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48 teams, 12 groups, 16 stadiums, all 104 fixtures — through to the Final at MetLife, July 19.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We broke our own settlement.</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And then we shut it off rather than ship it.</a:t>
            </a:r>
            <a:endParaRPr lang="en-US" sz="1500" dirty="0"/>
          </a:p>
        </p:txBody>
      </p:sp>
      <p:sp>
        <p:nvSpPr>
          <p:cNvPr id="4" name="Shape 2"/>
          <p:cNvSpPr/>
          <p:nvPr/>
        </p:nvSpPr>
        <p:spPr>
          <a:xfrm>
            <a:off x="640080" y="2148840"/>
            <a:ext cx="10881360" cy="1691640"/>
          </a:xfrm>
          <a:prstGeom prst="roundRect">
            <a:avLst>
              <a:gd name="adj" fmla="val 4324"/>
            </a:avLst>
          </a:prstGeom>
          <a:solidFill>
            <a:srgbClr val="14171C"/>
          </a:solidFill>
          <a:ln w="12700">
            <a:solidFill>
              <a:srgbClr val="FF3D81"/>
            </a:solidFill>
            <a:prstDash val="solid"/>
          </a:ln>
        </p:spPr>
      </p:sp>
      <p:sp>
        <p:nvSpPr>
          <p:cNvPr id="5" name="Text 3"/>
          <p:cNvSpPr/>
          <p:nvPr/>
        </p:nvSpPr>
        <p:spPr>
          <a:xfrm>
            <a:off x="1005840" y="2377440"/>
            <a:ext cx="2743200" cy="274320"/>
          </a:xfrm>
          <a:prstGeom prst="rect">
            <a:avLst/>
          </a:prstGeom>
          <a:noFill/>
          <a:ln/>
        </p:spPr>
        <p:txBody>
          <a:bodyPr wrap="square" lIns="0" tIns="0" rIns="0" bIns="0" rtlCol="0" anchor="ctr"/>
          <a:lstStyle/>
          <a:p>
            <a:pPr indent="0" marL="0">
              <a:buNone/>
            </a:pPr>
            <a:r>
              <a:rPr lang="en-US" sz="1100" b="1" spc="100" kern="0" dirty="0">
                <a:solidFill>
                  <a:srgbClr val="FF3D81"/>
                </a:solidFill>
                <a:latin typeface="Courier New" pitchFamily="34" charset="0"/>
                <a:ea typeface="Courier New" pitchFamily="34" charset="-122"/>
                <a:cs typeface="Courier New" pitchFamily="34" charset="-120"/>
              </a:rPr>
              <a:t>The finding</a:t>
            </a:r>
            <a:endParaRPr lang="en-US" sz="1100" dirty="0"/>
          </a:p>
        </p:txBody>
      </p:sp>
      <p:sp>
        <p:nvSpPr>
          <p:cNvPr id="6" name="Text 4"/>
          <p:cNvSpPr/>
          <p:nvPr/>
        </p:nvSpPr>
        <p:spPr>
          <a:xfrm>
            <a:off x="1005840" y="2743200"/>
            <a:ext cx="10149840" cy="960120"/>
          </a:xfrm>
          <a:prstGeom prst="rect">
            <a:avLst/>
          </a:prstGeom>
          <a:noFill/>
          <a:ln/>
        </p:spPr>
        <p:txBody>
          <a:bodyPr wrap="square" lIns="0" tIns="0" rIns="0" bIns="0" rtlCol="0" anchor="ctr"/>
          <a:lstStyle/>
          <a:p>
            <a:pPr indent="0" marL="0">
              <a:lnSpc>
                <a:spcPts val="2000"/>
              </a:lnSpc>
              <a:buNone/>
            </a:pPr>
            <a:r>
              <a:rPr lang="en-US" sz="1350" dirty="0">
                <a:solidFill>
                  <a:srgbClr val="F5F7FA"/>
                </a:solidFill>
                <a:latin typeface="Arial" pitchFamily="34" charset="0"/>
                <a:ea typeface="Arial" pitchFamily="34" charset="-122"/>
                <a:cs typeface="Arial" pitchFamily="34" charset="-120"/>
              </a:rPr>
              <a:t>The sanctioned settlement path selects the finalised score record OFF-chain, by sequence number. On-chain, validate_stat proves a stat leaf is in the Merkle root — but it never sees the record's Action field. So a caller can pick a mid-match sequence and produce a proof that verifies identically. Finality is asserted, not proven.</a:t>
            </a:r>
            <a:endParaRPr lang="en-US" sz="1350" dirty="0"/>
          </a:p>
        </p:txBody>
      </p:sp>
      <p:sp>
        <p:nvSpPr>
          <p:cNvPr id="7" name="Shape 5"/>
          <p:cNvSpPr/>
          <p:nvPr/>
        </p:nvSpPr>
        <p:spPr>
          <a:xfrm>
            <a:off x="640080" y="4114800"/>
            <a:ext cx="5349240" cy="1920240"/>
          </a:xfrm>
          <a:prstGeom prst="roundRect">
            <a:avLst>
              <a:gd name="adj" fmla="val 3810"/>
            </a:avLst>
          </a:prstGeom>
          <a:solidFill>
            <a:srgbClr val="14171C"/>
          </a:solidFill>
          <a:ln w="12700">
            <a:solidFill>
              <a:srgbClr val="FFB020"/>
            </a:solidFill>
            <a:prstDash val="solid"/>
          </a:ln>
        </p:spPr>
      </p:sp>
      <p:sp>
        <p:nvSpPr>
          <p:cNvPr id="8" name="Text 6"/>
          <p:cNvSpPr/>
          <p:nvPr/>
        </p:nvSpPr>
        <p:spPr>
          <a:xfrm>
            <a:off x="960120" y="4343400"/>
            <a:ext cx="2743200" cy="274320"/>
          </a:xfrm>
          <a:prstGeom prst="rect">
            <a:avLst/>
          </a:prstGeom>
          <a:noFill/>
          <a:ln/>
        </p:spPr>
        <p:txBody>
          <a:bodyPr wrap="square" lIns="0" tIns="0" rIns="0" bIns="0" rtlCol="0" anchor="ctr"/>
          <a:lstStyle/>
          <a:p>
            <a:pPr indent="0" marL="0">
              <a:buNone/>
            </a:pPr>
            <a:r>
              <a:rPr lang="en-US" sz="1100" b="1" spc="100" kern="0" dirty="0">
                <a:solidFill>
                  <a:srgbClr val="FFB020"/>
                </a:solidFill>
                <a:latin typeface="Courier New" pitchFamily="34" charset="0"/>
                <a:ea typeface="Courier New" pitchFamily="34" charset="-122"/>
                <a:cs typeface="Courier New" pitchFamily="34" charset="-120"/>
              </a:rPr>
              <a:t>What we did</a:t>
            </a:r>
            <a:endParaRPr lang="en-US" sz="1100" dirty="0"/>
          </a:p>
        </p:txBody>
      </p:sp>
      <p:sp>
        <p:nvSpPr>
          <p:cNvPr id="9" name="Text 7"/>
          <p:cNvSpPr/>
          <p:nvPr/>
        </p:nvSpPr>
        <p:spPr>
          <a:xfrm>
            <a:off x="960120" y="4709160"/>
            <a:ext cx="4709160" cy="109728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SETTLEMENT_LIVE = false. Hard-gated in the program itself. We shipped the proof path fail-closed rather than ship a settle we could not prove was safe.</a:t>
            </a:r>
            <a:endParaRPr lang="en-US" sz="1300" dirty="0"/>
          </a:p>
        </p:txBody>
      </p:sp>
      <p:sp>
        <p:nvSpPr>
          <p:cNvPr id="10" name="Shape 8"/>
          <p:cNvSpPr/>
          <p:nvPr/>
        </p:nvSpPr>
        <p:spPr>
          <a:xfrm>
            <a:off x="6172200" y="4114800"/>
            <a:ext cx="5349240" cy="1920240"/>
          </a:xfrm>
          <a:prstGeom prst="roundRect">
            <a:avLst>
              <a:gd name="adj" fmla="val 3810"/>
            </a:avLst>
          </a:prstGeom>
          <a:solidFill>
            <a:srgbClr val="14171C"/>
          </a:solidFill>
          <a:ln w="12700">
            <a:solidFill>
              <a:srgbClr val="2BD97C"/>
            </a:solidFill>
            <a:prstDash val="solid"/>
          </a:ln>
        </p:spPr>
      </p:sp>
      <p:sp>
        <p:nvSpPr>
          <p:cNvPr id="11" name="Text 9"/>
          <p:cNvSpPr/>
          <p:nvPr/>
        </p:nvSpPr>
        <p:spPr>
          <a:xfrm>
            <a:off x="6492240" y="4343400"/>
            <a:ext cx="2743200" cy="274320"/>
          </a:xfrm>
          <a:prstGeom prst="rect">
            <a:avLst/>
          </a:prstGeom>
          <a:noFill/>
          <a:ln/>
        </p:spPr>
        <p:txBody>
          <a:bodyPr wrap="square" lIns="0" tIns="0" rIns="0" bIns="0" rtlCol="0" anchor="ctr"/>
          <a:lstStyle/>
          <a:p>
            <a:pPr indent="0" marL="0">
              <a:buNone/>
            </a:pPr>
            <a:r>
              <a:rPr lang="en-US" sz="1100" b="1" spc="100" kern="0" dirty="0">
                <a:solidFill>
                  <a:srgbClr val="2BD97C"/>
                </a:solidFill>
                <a:latin typeface="Courier New" pitchFamily="34" charset="0"/>
                <a:ea typeface="Courier New" pitchFamily="34" charset="-122"/>
                <a:cs typeface="Courier New" pitchFamily="34" charset="-120"/>
              </a:rPr>
              <a:t>Why it matters</a:t>
            </a:r>
            <a:endParaRPr lang="en-US" sz="1100" dirty="0"/>
          </a:p>
        </p:txBody>
      </p:sp>
      <p:sp>
        <p:nvSpPr>
          <p:cNvPr id="12" name="Text 10"/>
          <p:cNvSpPr/>
          <p:nvPr/>
        </p:nvSpPr>
        <p:spPr>
          <a:xfrm>
            <a:off x="6492240" y="4709160"/>
            <a:ext cx="4709160" cy="1097280"/>
          </a:xfrm>
          <a:prstGeom prst="rect">
            <a:avLst/>
          </a:prstGeom>
          <a:noFill/>
          <a:ln/>
        </p:spPr>
        <p:txBody>
          <a:bodyPr wrap="square" lIns="0" tIns="0" rIns="0" bIns="0" rtlCol="0" anchor="ctr"/>
          <a:lstStyle/>
          <a:p>
            <a:pPr indent="0" marL="0">
              <a:lnSpc>
                <a:spcPts val="1900"/>
              </a:lnSpc>
              <a:buNone/>
            </a:pPr>
            <a:r>
              <a:rPr lang="en-US" sz="1300" dirty="0">
                <a:solidFill>
                  <a:srgbClr val="97A0AF"/>
                </a:solidFill>
                <a:latin typeface="Arial" pitchFamily="34" charset="0"/>
                <a:ea typeface="Arial" pitchFamily="34" charset="-122"/>
                <a:cs typeface="Arial" pitchFamily="34" charset="-120"/>
              </a:rPr>
              <a:t>Two independent adversarial audits, and the question is now with TxODDS. This is what building on a new oracle actually looks like — and we would rather be the team that found it than the team that shipped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Seven days. One engineer. An agent team.</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Not vibe-coded. Governed.</a:t>
            </a:r>
            <a:endParaRPr lang="en-US" sz="1500" dirty="0"/>
          </a:p>
        </p:txBody>
      </p:sp>
      <p:sp>
        <p:nvSpPr>
          <p:cNvPr id="4" name="Shape 2"/>
          <p:cNvSpPr/>
          <p:nvPr/>
        </p:nvSpPr>
        <p:spPr>
          <a:xfrm>
            <a:off x="685800" y="2194560"/>
            <a:ext cx="237744" cy="237744"/>
          </a:xfrm>
          <a:prstGeom prst="ellipse">
            <a:avLst/>
          </a:prstGeom>
          <a:solidFill>
            <a:srgbClr val="2BD97C"/>
          </a:solidFill>
          <a:ln/>
        </p:spPr>
      </p:sp>
      <p:sp>
        <p:nvSpPr>
          <p:cNvPr id="5" name="Text 3"/>
          <p:cNvSpPr/>
          <p:nvPr/>
        </p:nvSpPr>
        <p:spPr>
          <a:xfrm>
            <a:off x="1097280" y="2103120"/>
            <a:ext cx="3108960" cy="411480"/>
          </a:xfrm>
          <a:prstGeom prst="rect">
            <a:avLst/>
          </a:prstGeom>
          <a:noFill/>
          <a:ln/>
        </p:spPr>
        <p:txBody>
          <a:bodyPr wrap="square" lIns="0" tIns="0" rIns="0" bIns="0" rtlCol="0" anchor="t"/>
          <a:lstStyle/>
          <a:p>
            <a:pPr indent="0" marL="0">
              <a:buNone/>
            </a:pPr>
            <a:r>
              <a:rPr lang="en-US" sz="1600" b="1" dirty="0">
                <a:solidFill>
                  <a:srgbClr val="F5F7FA"/>
                </a:solidFill>
                <a:latin typeface="Arial" pitchFamily="34" charset="0"/>
                <a:ea typeface="Arial" pitchFamily="34" charset="-122"/>
                <a:cs typeface="Arial" pitchFamily="34" charset="-120"/>
              </a:rPr>
              <a:t>Laws, not prompts</a:t>
            </a:r>
            <a:endParaRPr lang="en-US" sz="1600" dirty="0"/>
          </a:p>
        </p:txBody>
      </p:sp>
      <p:sp>
        <p:nvSpPr>
          <p:cNvPr id="6" name="Text 4"/>
          <p:cNvSpPr/>
          <p:nvPr/>
        </p:nvSpPr>
        <p:spPr>
          <a:xfrm>
            <a:off x="4389120" y="2084832"/>
            <a:ext cx="713232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A CLAUDE.md constitution — design law, architecture law, the play-money invariant — enforced by git hooks that block a violating write before it lands.</a:t>
            </a:r>
            <a:endParaRPr lang="en-US" sz="1250" dirty="0"/>
          </a:p>
        </p:txBody>
      </p:sp>
      <p:sp>
        <p:nvSpPr>
          <p:cNvPr id="7" name="Shape 5"/>
          <p:cNvSpPr/>
          <p:nvPr/>
        </p:nvSpPr>
        <p:spPr>
          <a:xfrm>
            <a:off x="685800" y="3246120"/>
            <a:ext cx="237744" cy="237744"/>
          </a:xfrm>
          <a:prstGeom prst="ellipse">
            <a:avLst/>
          </a:prstGeom>
          <a:solidFill>
            <a:srgbClr val="2BD97C"/>
          </a:solidFill>
          <a:ln/>
        </p:spPr>
      </p:sp>
      <p:sp>
        <p:nvSpPr>
          <p:cNvPr id="8" name="Text 6"/>
          <p:cNvSpPr/>
          <p:nvPr/>
        </p:nvSpPr>
        <p:spPr>
          <a:xfrm>
            <a:off x="1097280" y="3154680"/>
            <a:ext cx="3108960" cy="411480"/>
          </a:xfrm>
          <a:prstGeom prst="rect">
            <a:avLst/>
          </a:prstGeom>
          <a:noFill/>
          <a:ln/>
        </p:spPr>
        <p:txBody>
          <a:bodyPr wrap="square" lIns="0" tIns="0" rIns="0" bIns="0" rtlCol="0" anchor="t"/>
          <a:lstStyle/>
          <a:p>
            <a:pPr indent="0" marL="0">
              <a:buNone/>
            </a:pPr>
            <a:r>
              <a:rPr lang="en-US" sz="1600" b="1" dirty="0">
                <a:solidFill>
                  <a:srgbClr val="F5F7FA"/>
                </a:solidFill>
                <a:latin typeface="Arial" pitchFamily="34" charset="0"/>
                <a:ea typeface="Arial" pitchFamily="34" charset="-122"/>
                <a:cs typeface="Arial" pitchFamily="34" charset="-120"/>
              </a:rPr>
              <a:t>Specialist agents</a:t>
            </a:r>
            <a:endParaRPr lang="en-US" sz="1600" dirty="0"/>
          </a:p>
        </p:txBody>
      </p:sp>
      <p:sp>
        <p:nvSpPr>
          <p:cNvPr id="9" name="Text 7"/>
          <p:cNvSpPr/>
          <p:nvPr/>
        </p:nvSpPr>
        <p:spPr>
          <a:xfrm>
            <a:off x="4389120" y="3136392"/>
            <a:ext cx="713232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engine-guardian on the trading core. proof-auditor on the Anchor program — it found the settlement forge. design-cop judges every screen against a rubric. quant-reviewer on the pricing math.</a:t>
            </a:r>
            <a:endParaRPr lang="en-US" sz="1250" dirty="0"/>
          </a:p>
        </p:txBody>
      </p:sp>
      <p:sp>
        <p:nvSpPr>
          <p:cNvPr id="10" name="Shape 8"/>
          <p:cNvSpPr/>
          <p:nvPr/>
        </p:nvSpPr>
        <p:spPr>
          <a:xfrm>
            <a:off x="685800" y="4297680"/>
            <a:ext cx="237744" cy="237744"/>
          </a:xfrm>
          <a:prstGeom prst="ellipse">
            <a:avLst/>
          </a:prstGeom>
          <a:solidFill>
            <a:srgbClr val="2BD97C"/>
          </a:solidFill>
          <a:ln/>
        </p:spPr>
      </p:sp>
      <p:sp>
        <p:nvSpPr>
          <p:cNvPr id="11" name="Text 9"/>
          <p:cNvSpPr/>
          <p:nvPr/>
        </p:nvSpPr>
        <p:spPr>
          <a:xfrm>
            <a:off x="1097280" y="4206240"/>
            <a:ext cx="3108960" cy="411480"/>
          </a:xfrm>
          <a:prstGeom prst="rect">
            <a:avLst/>
          </a:prstGeom>
          <a:noFill/>
          <a:ln/>
        </p:spPr>
        <p:txBody>
          <a:bodyPr wrap="square" lIns="0" tIns="0" rIns="0" bIns="0" rtlCol="0" anchor="t"/>
          <a:lstStyle/>
          <a:p>
            <a:pPr indent="0" marL="0">
              <a:buNone/>
            </a:pPr>
            <a:r>
              <a:rPr lang="en-US" sz="1600" b="1" dirty="0">
                <a:solidFill>
                  <a:srgbClr val="F5F7FA"/>
                </a:solidFill>
                <a:latin typeface="Arial" pitchFamily="34" charset="0"/>
                <a:ea typeface="Arial" pitchFamily="34" charset="-122"/>
                <a:cs typeface="Arial" pitchFamily="34" charset="-120"/>
              </a:rPr>
              <a:t>53 ADRs</a:t>
            </a:r>
            <a:endParaRPr lang="en-US" sz="1600" dirty="0"/>
          </a:p>
        </p:txBody>
      </p:sp>
      <p:sp>
        <p:nvSpPr>
          <p:cNvPr id="12" name="Text 10"/>
          <p:cNvSpPr/>
          <p:nvPr/>
        </p:nvSpPr>
        <p:spPr>
          <a:xfrm>
            <a:off x="4389120" y="4187952"/>
            <a:ext cx="713232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Every decision is written down before it is coded. Chat is not memory. That is why seven days of work didn't collapse into mud.</a:t>
            </a:r>
            <a:endParaRPr lang="en-US" sz="1250" dirty="0"/>
          </a:p>
        </p:txBody>
      </p:sp>
      <p:sp>
        <p:nvSpPr>
          <p:cNvPr id="13" name="Shape 11"/>
          <p:cNvSpPr/>
          <p:nvPr/>
        </p:nvSpPr>
        <p:spPr>
          <a:xfrm>
            <a:off x="685800" y="5349240"/>
            <a:ext cx="237744" cy="237744"/>
          </a:xfrm>
          <a:prstGeom prst="ellipse">
            <a:avLst/>
          </a:prstGeom>
          <a:solidFill>
            <a:srgbClr val="2BD97C"/>
          </a:solidFill>
          <a:ln/>
        </p:spPr>
      </p:sp>
      <p:sp>
        <p:nvSpPr>
          <p:cNvPr id="14" name="Text 12"/>
          <p:cNvSpPr/>
          <p:nvPr/>
        </p:nvSpPr>
        <p:spPr>
          <a:xfrm>
            <a:off x="1097280" y="5257800"/>
            <a:ext cx="3108960" cy="411480"/>
          </a:xfrm>
          <a:prstGeom prst="rect">
            <a:avLst/>
          </a:prstGeom>
          <a:noFill/>
          <a:ln/>
        </p:spPr>
        <p:txBody>
          <a:bodyPr wrap="square" lIns="0" tIns="0" rIns="0" bIns="0" rtlCol="0" anchor="t"/>
          <a:lstStyle/>
          <a:p>
            <a:pPr indent="0" marL="0">
              <a:buNone/>
            </a:pPr>
            <a:r>
              <a:rPr lang="en-US" sz="1600" b="1" dirty="0">
                <a:solidFill>
                  <a:srgbClr val="F5F7FA"/>
                </a:solidFill>
                <a:latin typeface="Arial" pitchFamily="34" charset="0"/>
                <a:ea typeface="Arial" pitchFamily="34" charset="-122"/>
                <a:cs typeface="Arial" pitchFamily="34" charset="-120"/>
              </a:rPr>
              <a:t>The loop that mattered</a:t>
            </a:r>
            <a:endParaRPr lang="en-US" sz="1600" dirty="0"/>
          </a:p>
        </p:txBody>
      </p:sp>
      <p:sp>
        <p:nvSpPr>
          <p:cNvPr id="15" name="Text 13"/>
          <p:cNvSpPr/>
          <p:nvPr/>
        </p:nvSpPr>
        <p:spPr>
          <a:xfrm>
            <a:off x="4389120" y="5239512"/>
            <a:ext cx="713232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Screenshot the render → look at it → judge it → fix it. Every real UI improvement came from seeing the page, never from writing blind.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640080" y="411480"/>
            <a:ext cx="10881360" cy="685800"/>
          </a:xfrm>
          <a:prstGeom prst="rect">
            <a:avLst/>
          </a:prstGeom>
          <a:noFill/>
          <a:ln/>
        </p:spPr>
        <p:txBody>
          <a:bodyPr wrap="square" lIns="0" tIns="0" rIns="0" bIns="0" rtlCol="0" anchor="t"/>
          <a:lstStyle/>
          <a:p>
            <a:pPr indent="0" marL="0">
              <a:buNone/>
            </a:pPr>
            <a:r>
              <a:rPr lang="en-US" sz="3600" b="1" dirty="0">
                <a:solidFill>
                  <a:srgbClr val="F5F7FA"/>
                </a:solidFill>
                <a:latin typeface="Arial" pitchFamily="34" charset="0"/>
                <a:ea typeface="Arial" pitchFamily="34" charset="-122"/>
                <a:cs typeface="Arial" pitchFamily="34" charset="-120"/>
              </a:rPr>
              <a:t>Where this goes</a:t>
            </a:r>
            <a:endParaRPr lang="en-US" sz="3600" dirty="0"/>
          </a:p>
        </p:txBody>
      </p:sp>
      <p:sp>
        <p:nvSpPr>
          <p:cNvPr id="3" name="Text 1"/>
          <p:cNvSpPr/>
          <p:nvPr/>
        </p:nvSpPr>
        <p:spPr>
          <a:xfrm>
            <a:off x="640080" y="1115568"/>
            <a:ext cx="10881360" cy="365760"/>
          </a:xfrm>
          <a:prstGeom prst="rect">
            <a:avLst/>
          </a:prstGeom>
          <a:noFill/>
          <a:ln/>
        </p:spPr>
        <p:txBody>
          <a:bodyPr wrap="square" lIns="0" tIns="0" rIns="0" bIns="0" rtlCol="0" anchor="t"/>
          <a:lstStyle/>
          <a:p>
            <a:pPr indent="0" marL="0">
              <a:buNone/>
            </a:pPr>
            <a:r>
              <a:rPr lang="en-US" sz="1500" dirty="0">
                <a:solidFill>
                  <a:srgbClr val="97A0AF"/>
                </a:solidFill>
                <a:latin typeface="Arial" pitchFamily="34" charset="0"/>
                <a:ea typeface="Arial" pitchFamily="34" charset="-122"/>
                <a:cs typeface="Arial" pitchFamily="34" charset="-120"/>
              </a:rPr>
              <a:t>The Final is July 19. That's the start, not the finish.</a:t>
            </a:r>
            <a:endParaRPr lang="en-US" sz="1500" dirty="0"/>
          </a:p>
        </p:txBody>
      </p:sp>
      <p:sp>
        <p:nvSpPr>
          <p:cNvPr id="4" name="Shape 2"/>
          <p:cNvSpPr/>
          <p:nvPr/>
        </p:nvSpPr>
        <p:spPr>
          <a:xfrm>
            <a:off x="640080" y="2103120"/>
            <a:ext cx="1051560" cy="365760"/>
          </a:xfrm>
          <a:prstGeom prst="roundRect">
            <a:avLst>
              <a:gd name="adj" fmla="val 15000"/>
            </a:avLst>
          </a:prstGeom>
          <a:solidFill>
            <a:srgbClr val="14171C"/>
          </a:solidFill>
          <a:ln w="12700">
            <a:solidFill>
              <a:srgbClr val="2BD97C"/>
            </a:solidFill>
            <a:prstDash val="solid"/>
          </a:ln>
        </p:spPr>
      </p:sp>
      <p:sp>
        <p:nvSpPr>
          <p:cNvPr id="5" name="Text 3"/>
          <p:cNvSpPr/>
          <p:nvPr/>
        </p:nvSpPr>
        <p:spPr>
          <a:xfrm>
            <a:off x="640080" y="2103120"/>
            <a:ext cx="1051560" cy="365760"/>
          </a:xfrm>
          <a:prstGeom prst="rect">
            <a:avLst/>
          </a:prstGeom>
          <a:noFill/>
          <a:ln/>
        </p:spPr>
        <p:txBody>
          <a:bodyPr wrap="square" lIns="0" tIns="0" rIns="0" bIns="0" rtlCol="0" anchor="ctr"/>
          <a:lstStyle/>
          <a:p>
            <a:pPr algn="ctr" indent="0" marL="0">
              <a:buNone/>
            </a:pPr>
            <a:r>
              <a:rPr lang="en-US" sz="1000" b="1" dirty="0">
                <a:solidFill>
                  <a:srgbClr val="2BD97C"/>
                </a:solidFill>
                <a:latin typeface="Courier New" pitchFamily="34" charset="0"/>
                <a:ea typeface="Courier New" pitchFamily="34" charset="-122"/>
                <a:cs typeface="Courier New" pitchFamily="34" charset="-120"/>
              </a:rPr>
              <a:t>NOW</a:t>
            </a:r>
            <a:endParaRPr lang="en-US" sz="1000" dirty="0"/>
          </a:p>
        </p:txBody>
      </p:sp>
      <p:sp>
        <p:nvSpPr>
          <p:cNvPr id="6" name="Text 4"/>
          <p:cNvSpPr/>
          <p:nvPr/>
        </p:nvSpPr>
        <p:spPr>
          <a:xfrm>
            <a:off x="1874520" y="2057400"/>
            <a:ext cx="3017520" cy="411480"/>
          </a:xfrm>
          <a:prstGeom prst="rect">
            <a:avLst/>
          </a:prstGeom>
          <a:noFill/>
          <a:ln/>
        </p:spPr>
        <p:txBody>
          <a:bodyPr wrap="square" lIns="0" tIns="0" rIns="0" bIns="0" rtlCol="0" anchor="t"/>
          <a:lstStyle/>
          <a:p>
            <a:pPr indent="0" marL="0">
              <a:buNone/>
            </a:pPr>
            <a:r>
              <a:rPr lang="en-US" sz="1500" b="1" dirty="0">
                <a:solidFill>
                  <a:srgbClr val="F5F7FA"/>
                </a:solidFill>
                <a:latin typeface="Arial" pitchFamily="34" charset="0"/>
                <a:ea typeface="Arial" pitchFamily="34" charset="-122"/>
                <a:cs typeface="Arial" pitchFamily="34" charset="-120"/>
              </a:rPr>
              <a:t>Live wiring + the Final</a:t>
            </a:r>
            <a:endParaRPr lang="en-US" sz="1500" dirty="0"/>
          </a:p>
        </p:txBody>
      </p:sp>
      <p:sp>
        <p:nvSpPr>
          <p:cNvPr id="7" name="Text 5"/>
          <p:cNvSpPr/>
          <p:nvPr/>
        </p:nvSpPr>
        <p:spPr>
          <a:xfrm>
            <a:off x="5029200" y="2039112"/>
            <a:ext cx="649224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Ninety monitors the World Cup Final live — real TxLINE prices, real halts, real settlement.</a:t>
            </a:r>
            <a:endParaRPr lang="en-US" sz="1250" dirty="0"/>
          </a:p>
        </p:txBody>
      </p:sp>
      <p:sp>
        <p:nvSpPr>
          <p:cNvPr id="8" name="Shape 6"/>
          <p:cNvSpPr/>
          <p:nvPr/>
        </p:nvSpPr>
        <p:spPr>
          <a:xfrm>
            <a:off x="640080" y="3154680"/>
            <a:ext cx="1051560" cy="365760"/>
          </a:xfrm>
          <a:prstGeom prst="roundRect">
            <a:avLst>
              <a:gd name="adj" fmla="val 15000"/>
            </a:avLst>
          </a:prstGeom>
          <a:solidFill>
            <a:srgbClr val="14171C"/>
          </a:solidFill>
          <a:ln w="12700">
            <a:solidFill>
              <a:srgbClr val="FFB020"/>
            </a:solidFill>
            <a:prstDash val="solid"/>
          </a:ln>
        </p:spPr>
      </p:sp>
      <p:sp>
        <p:nvSpPr>
          <p:cNvPr id="9" name="Text 7"/>
          <p:cNvSpPr/>
          <p:nvPr/>
        </p:nvSpPr>
        <p:spPr>
          <a:xfrm>
            <a:off x="640080" y="3154680"/>
            <a:ext cx="1051560" cy="365760"/>
          </a:xfrm>
          <a:prstGeom prst="rect">
            <a:avLst/>
          </a:prstGeom>
          <a:noFill/>
          <a:ln/>
        </p:spPr>
        <p:txBody>
          <a:bodyPr wrap="square" lIns="0" tIns="0" rIns="0" bIns="0" rtlCol="0" anchor="ctr"/>
          <a:lstStyle/>
          <a:p>
            <a:pPr algn="ctr" indent="0" marL="0">
              <a:buNone/>
            </a:pPr>
            <a:r>
              <a:rPr lang="en-US" sz="1000" b="1" dirty="0">
                <a:solidFill>
                  <a:srgbClr val="FFB020"/>
                </a:solidFill>
                <a:latin typeface="Courier New" pitchFamily="34" charset="0"/>
                <a:ea typeface="Courier New" pitchFamily="34" charset="-122"/>
                <a:cs typeface="Courier New" pitchFamily="34" charset="-120"/>
              </a:rPr>
              <a:t>NEXT</a:t>
            </a:r>
            <a:endParaRPr lang="en-US" sz="1000" dirty="0"/>
          </a:p>
        </p:txBody>
      </p:sp>
      <p:sp>
        <p:nvSpPr>
          <p:cNvPr id="10" name="Text 8"/>
          <p:cNvSpPr/>
          <p:nvPr/>
        </p:nvSpPr>
        <p:spPr>
          <a:xfrm>
            <a:off x="1874520" y="3108960"/>
            <a:ext cx="3017520" cy="411480"/>
          </a:xfrm>
          <a:prstGeom prst="rect">
            <a:avLst/>
          </a:prstGeom>
          <a:noFill/>
          <a:ln/>
        </p:spPr>
        <p:txBody>
          <a:bodyPr wrap="square" lIns="0" tIns="0" rIns="0" bIns="0" rtlCol="0" anchor="t"/>
          <a:lstStyle/>
          <a:p>
            <a:pPr indent="0" marL="0">
              <a:buNone/>
            </a:pPr>
            <a:r>
              <a:rPr lang="en-US" sz="1500" b="1" dirty="0">
                <a:solidFill>
                  <a:srgbClr val="F5F7FA"/>
                </a:solidFill>
                <a:latin typeface="Arial" pitchFamily="34" charset="0"/>
                <a:ea typeface="Arial" pitchFamily="34" charset="-122"/>
                <a:cs typeface="Arial" pitchFamily="34" charset="-120"/>
              </a:rPr>
              <a:t>Prize money → infrastructure</a:t>
            </a:r>
            <a:endParaRPr lang="en-US" sz="1500" dirty="0"/>
          </a:p>
        </p:txBody>
      </p:sp>
      <p:sp>
        <p:nvSpPr>
          <p:cNvPr id="11" name="Text 9"/>
          <p:cNvSpPr/>
          <p:nvPr/>
        </p:nvSpPr>
        <p:spPr>
          <a:xfrm>
            <a:off x="5029200" y="3090672"/>
            <a:ext cx="649224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A managed Postgres and Redis, a Helius key, and a Bubblegum tree so Moments mint on mainnet. Every dollar goes into keeping the feed and the proofs running.</a:t>
            </a:r>
            <a:endParaRPr lang="en-US" sz="1250" dirty="0"/>
          </a:p>
        </p:txBody>
      </p:sp>
      <p:sp>
        <p:nvSpPr>
          <p:cNvPr id="12" name="Shape 10"/>
          <p:cNvSpPr/>
          <p:nvPr/>
        </p:nvSpPr>
        <p:spPr>
          <a:xfrm>
            <a:off x="640080" y="4206240"/>
            <a:ext cx="1051560" cy="365760"/>
          </a:xfrm>
          <a:prstGeom prst="roundRect">
            <a:avLst>
              <a:gd name="adj" fmla="val 15000"/>
            </a:avLst>
          </a:prstGeom>
          <a:solidFill>
            <a:srgbClr val="14171C"/>
          </a:solidFill>
          <a:ln w="12700">
            <a:solidFill>
              <a:srgbClr val="9D6BFF"/>
            </a:solidFill>
            <a:prstDash val="solid"/>
          </a:ln>
        </p:spPr>
      </p:sp>
      <p:sp>
        <p:nvSpPr>
          <p:cNvPr id="13" name="Text 11"/>
          <p:cNvSpPr/>
          <p:nvPr/>
        </p:nvSpPr>
        <p:spPr>
          <a:xfrm>
            <a:off x="640080" y="4206240"/>
            <a:ext cx="1051560" cy="365760"/>
          </a:xfrm>
          <a:prstGeom prst="rect">
            <a:avLst/>
          </a:prstGeom>
          <a:noFill/>
          <a:ln/>
        </p:spPr>
        <p:txBody>
          <a:bodyPr wrap="square" lIns="0" tIns="0" rIns="0" bIns="0" rtlCol="0" anchor="ctr"/>
          <a:lstStyle/>
          <a:p>
            <a:pPr algn="ctr" indent="0" marL="0">
              <a:buNone/>
            </a:pPr>
            <a:r>
              <a:rPr lang="en-US" sz="1000" b="1" dirty="0">
                <a:solidFill>
                  <a:srgbClr val="9D6BFF"/>
                </a:solidFill>
                <a:latin typeface="Courier New" pitchFamily="34" charset="0"/>
                <a:ea typeface="Courier New" pitchFamily="34" charset="-122"/>
                <a:cs typeface="Courier New" pitchFamily="34" charset="-120"/>
              </a:rPr>
              <a:t>THEN</a:t>
            </a:r>
            <a:endParaRPr lang="en-US" sz="1000" dirty="0"/>
          </a:p>
        </p:txBody>
      </p:sp>
      <p:sp>
        <p:nvSpPr>
          <p:cNvPr id="14" name="Text 12"/>
          <p:cNvSpPr/>
          <p:nvPr/>
        </p:nvSpPr>
        <p:spPr>
          <a:xfrm>
            <a:off x="1874520" y="4160520"/>
            <a:ext cx="3017520" cy="411480"/>
          </a:xfrm>
          <a:prstGeom prst="rect">
            <a:avLst/>
          </a:prstGeom>
          <a:noFill/>
          <a:ln/>
        </p:spPr>
        <p:txBody>
          <a:bodyPr wrap="square" lIns="0" tIns="0" rIns="0" bIns="0" rtlCol="0" anchor="t"/>
          <a:lstStyle/>
          <a:p>
            <a:pPr indent="0" marL="0">
              <a:buNone/>
            </a:pPr>
            <a:r>
              <a:rPr lang="en-US" sz="1500" b="1" dirty="0">
                <a:solidFill>
                  <a:srgbClr val="F5F7FA"/>
                </a:solidFill>
                <a:latin typeface="Arial" pitchFamily="34" charset="0"/>
                <a:ea typeface="Arial" pitchFamily="34" charset="-122"/>
                <a:cs typeface="Arial" pitchFamily="34" charset="-120"/>
              </a:rPr>
              <a:t>Beyond football</a:t>
            </a:r>
            <a:endParaRPr lang="en-US" sz="1500" dirty="0"/>
          </a:p>
        </p:txBody>
      </p:sp>
      <p:sp>
        <p:nvSpPr>
          <p:cNvPr id="15" name="Text 13"/>
          <p:cNvSpPr/>
          <p:nvPr/>
        </p:nvSpPr>
        <p:spPr>
          <a:xfrm>
            <a:off x="5029200" y="4142232"/>
            <a:ext cx="649224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TxODDS is multi-sport. The engine, the bus, and the proof path don't know or care that this is football. The next tournament is a config change.</a:t>
            </a:r>
            <a:endParaRPr lang="en-US" sz="1250" dirty="0"/>
          </a:p>
        </p:txBody>
      </p:sp>
      <p:sp>
        <p:nvSpPr>
          <p:cNvPr id="16" name="Shape 14"/>
          <p:cNvSpPr/>
          <p:nvPr/>
        </p:nvSpPr>
        <p:spPr>
          <a:xfrm>
            <a:off x="640080" y="5257800"/>
            <a:ext cx="1051560" cy="365760"/>
          </a:xfrm>
          <a:prstGeom prst="roundRect">
            <a:avLst>
              <a:gd name="adj" fmla="val 15000"/>
            </a:avLst>
          </a:prstGeom>
          <a:solidFill>
            <a:srgbClr val="14171C"/>
          </a:solidFill>
          <a:ln w="12700">
            <a:solidFill>
              <a:srgbClr val="F5F7FA"/>
            </a:solidFill>
            <a:prstDash val="solid"/>
          </a:ln>
        </p:spPr>
      </p:sp>
      <p:sp>
        <p:nvSpPr>
          <p:cNvPr id="17" name="Text 15"/>
          <p:cNvSpPr/>
          <p:nvPr/>
        </p:nvSpPr>
        <p:spPr>
          <a:xfrm>
            <a:off x="640080" y="5257800"/>
            <a:ext cx="1051560" cy="365760"/>
          </a:xfrm>
          <a:prstGeom prst="rect">
            <a:avLst/>
          </a:prstGeom>
          <a:noFill/>
          <a:ln/>
        </p:spPr>
        <p:txBody>
          <a:bodyPr wrap="square" lIns="0" tIns="0" rIns="0" bIns="0" rtlCol="0" anchor="ctr"/>
          <a:lstStyle/>
          <a:p>
            <a:pPr algn="ctr" indent="0" marL="0">
              <a:buNone/>
            </a:pPr>
            <a:r>
              <a:rPr lang="en-US" sz="1000" b="1" dirty="0">
                <a:solidFill>
                  <a:srgbClr val="F5F7FA"/>
                </a:solidFill>
                <a:latin typeface="Courier New" pitchFamily="34" charset="0"/>
                <a:ea typeface="Courier New" pitchFamily="34" charset="-122"/>
                <a:cs typeface="Courier New" pitchFamily="34" charset="-120"/>
              </a:rPr>
              <a:t>THE MOAT</a:t>
            </a:r>
            <a:endParaRPr lang="en-US" sz="1000" dirty="0"/>
          </a:p>
        </p:txBody>
      </p:sp>
      <p:sp>
        <p:nvSpPr>
          <p:cNvPr id="18" name="Text 16"/>
          <p:cNvSpPr/>
          <p:nvPr/>
        </p:nvSpPr>
        <p:spPr>
          <a:xfrm>
            <a:off x="1874520" y="5212080"/>
            <a:ext cx="3017520" cy="411480"/>
          </a:xfrm>
          <a:prstGeom prst="rect">
            <a:avLst/>
          </a:prstGeom>
          <a:noFill/>
          <a:ln/>
        </p:spPr>
        <p:txBody>
          <a:bodyPr wrap="square" lIns="0" tIns="0" rIns="0" bIns="0" rtlCol="0" anchor="t"/>
          <a:lstStyle/>
          <a:p>
            <a:pPr indent="0" marL="0">
              <a:buNone/>
            </a:pPr>
            <a:r>
              <a:rPr lang="en-US" sz="1500" b="1" dirty="0">
                <a:solidFill>
                  <a:srgbClr val="F5F7FA"/>
                </a:solidFill>
                <a:latin typeface="Arial" pitchFamily="34" charset="0"/>
                <a:ea typeface="Arial" pitchFamily="34" charset="-122"/>
                <a:cs typeface="Arial" pitchFamily="34" charset="-120"/>
              </a:rPr>
              <a:t>The clean top-of-funnel</a:t>
            </a:r>
            <a:endParaRPr lang="en-US" sz="1500" dirty="0"/>
          </a:p>
        </p:txBody>
      </p:sp>
      <p:sp>
        <p:nvSpPr>
          <p:cNvPr id="19" name="Text 17"/>
          <p:cNvSpPr/>
          <p:nvPr/>
        </p:nvSpPr>
        <p:spPr>
          <a:xfrm>
            <a:off x="5029200" y="5193792"/>
            <a:ext cx="6492240" cy="914400"/>
          </a:xfrm>
          <a:prstGeom prst="rect">
            <a:avLst/>
          </a:prstGeom>
          <a:noFill/>
          <a:ln/>
        </p:spPr>
        <p:txBody>
          <a:bodyPr wrap="square" lIns="0" tIns="0" rIns="0" bIns="0" rtlCol="0" anchor="t"/>
          <a:lstStyle/>
          <a:p>
            <a:pPr indent="0" marL="0">
              <a:lnSpc>
                <a:spcPts val="1800"/>
              </a:lnSpc>
              <a:buNone/>
            </a:pPr>
            <a:r>
              <a:rPr lang="en-US" sz="1250" dirty="0">
                <a:solidFill>
                  <a:srgbClr val="97A0AF"/>
                </a:solidFill>
                <a:latin typeface="Arial" pitchFamily="34" charset="0"/>
                <a:ea typeface="Arial" pitchFamily="34" charset="-122"/>
                <a:cs typeface="Arial" pitchFamily="34" charset="-120"/>
              </a:rPr>
              <a:t>Play-money is app-store safe and licence-free. That makes Ninety the acquisition channel a sportsbook cannot legally build — and the one they'll want to partner with.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822960" y="2103120"/>
            <a:ext cx="7315200" cy="1097280"/>
          </a:xfrm>
          <a:prstGeom prst="rect">
            <a:avLst/>
          </a:prstGeom>
          <a:noFill/>
          <a:ln/>
        </p:spPr>
        <p:txBody>
          <a:bodyPr wrap="square" lIns="0" tIns="0" rIns="0" bIns="0" rtlCol="0" anchor="ctr"/>
          <a:lstStyle/>
          <a:p>
            <a:pPr indent="0" marL="0">
              <a:buNone/>
            </a:pPr>
            <a:r>
              <a:rPr lang="en-US" sz="7600" b="1" dirty="0">
                <a:solidFill>
                  <a:srgbClr val="F5F7FA"/>
                </a:solidFill>
                <a:latin typeface="Arial" pitchFamily="34" charset="0"/>
                <a:ea typeface="Arial" pitchFamily="34" charset="-122"/>
                <a:cs typeface="Arial" pitchFamily="34" charset="-120"/>
              </a:rPr>
              <a:t>Ninety</a:t>
            </a:r>
            <a:endParaRPr lang="en-US" sz="7600" dirty="0"/>
          </a:p>
        </p:txBody>
      </p:sp>
      <p:sp>
        <p:nvSpPr>
          <p:cNvPr id="3" name="Text 1"/>
          <p:cNvSpPr/>
          <p:nvPr/>
        </p:nvSpPr>
        <p:spPr>
          <a:xfrm>
            <a:off x="868680" y="3200400"/>
            <a:ext cx="8229600" cy="457200"/>
          </a:xfrm>
          <a:prstGeom prst="rect">
            <a:avLst/>
          </a:prstGeom>
          <a:noFill/>
          <a:ln/>
        </p:spPr>
        <p:txBody>
          <a:bodyPr wrap="square" lIns="0" tIns="0" rIns="0" bIns="0" rtlCol="0" anchor="ctr"/>
          <a:lstStyle/>
          <a:p>
            <a:pPr indent="0" marL="0">
              <a:buNone/>
            </a:pPr>
            <a:r>
              <a:rPr lang="en-US" sz="2200" dirty="0">
                <a:solidFill>
                  <a:srgbClr val="2BD97C"/>
                </a:solidFill>
                <a:latin typeface="Arial" pitchFamily="34" charset="0"/>
                <a:ea typeface="Arial" pitchFamily="34" charset="-122"/>
                <a:cs typeface="Arial" pitchFamily="34" charset="-120"/>
              </a:rPr>
              <a:t>The market moves the moment the ball does.</a:t>
            </a:r>
            <a:endParaRPr lang="en-US" sz="2200" dirty="0"/>
          </a:p>
        </p:txBody>
      </p:sp>
      <p:sp>
        <p:nvSpPr>
          <p:cNvPr id="4" name="Text 2"/>
          <p:cNvSpPr/>
          <p:nvPr/>
        </p:nvSpPr>
        <p:spPr>
          <a:xfrm>
            <a:off x="868680" y="3794760"/>
            <a:ext cx="8229600" cy="365760"/>
          </a:xfrm>
          <a:prstGeom prst="rect">
            <a:avLst/>
          </a:prstGeom>
          <a:noFill/>
          <a:ln/>
        </p:spPr>
        <p:txBody>
          <a:bodyPr wrap="square" lIns="0" tIns="0" rIns="0" bIns="0" rtlCol="0" anchor="ctr"/>
          <a:lstStyle/>
          <a:p>
            <a:pPr indent="0" marL="0">
              <a:buNone/>
            </a:pPr>
            <a:r>
              <a:rPr lang="en-US" sz="1500" dirty="0">
                <a:solidFill>
                  <a:srgbClr val="97A0AF"/>
                </a:solidFill>
                <a:latin typeface="Arial" pitchFamily="34" charset="0"/>
                <a:ea typeface="Arial" pitchFamily="34" charset="-122"/>
                <a:cs typeface="Arial" pitchFamily="34" charset="-120"/>
              </a:rPr>
              <a:t>Priced by TxLINE. Settled by Solana. Free to play, forever.</a:t>
            </a:r>
            <a:endParaRPr lang="en-US" sz="1500" dirty="0"/>
          </a:p>
        </p:txBody>
      </p:sp>
      <p:sp>
        <p:nvSpPr>
          <p:cNvPr id="5" name="Shape 3"/>
          <p:cNvSpPr/>
          <p:nvPr/>
        </p:nvSpPr>
        <p:spPr>
          <a:xfrm>
            <a:off x="868680" y="4754880"/>
            <a:ext cx="1371600" cy="292608"/>
          </a:xfrm>
          <a:prstGeom prst="roundRect">
            <a:avLst>
              <a:gd name="adj" fmla="val 50000"/>
            </a:avLst>
          </a:prstGeom>
          <a:solidFill>
            <a:srgbClr val="14171C"/>
          </a:solidFill>
          <a:ln w="12700">
            <a:solidFill>
              <a:srgbClr val="2BD97C"/>
            </a:solidFill>
            <a:prstDash val="solid"/>
          </a:ln>
        </p:spPr>
      </p:sp>
      <p:sp>
        <p:nvSpPr>
          <p:cNvPr id="6" name="Text 4"/>
          <p:cNvSpPr/>
          <p:nvPr/>
        </p:nvSpPr>
        <p:spPr>
          <a:xfrm>
            <a:off x="868680" y="4754880"/>
            <a:ext cx="1371600" cy="292608"/>
          </a:xfrm>
          <a:prstGeom prst="rect">
            <a:avLst/>
          </a:prstGeom>
          <a:noFill/>
          <a:ln/>
        </p:spPr>
        <p:txBody>
          <a:bodyPr wrap="square" lIns="0" tIns="0" rIns="0" bIns="0" rtlCol="0" anchor="ctr"/>
          <a:lstStyle/>
          <a:p>
            <a:pPr algn="ctr" indent="0" marL="0">
              <a:buNone/>
            </a:pPr>
            <a:r>
              <a:rPr lang="en-US" sz="1000" b="1" spc="100" kern="0" dirty="0">
                <a:solidFill>
                  <a:srgbClr val="2BD97C"/>
                </a:solidFill>
                <a:latin typeface="Courier New" pitchFamily="34" charset="0"/>
                <a:ea typeface="Courier New" pitchFamily="34" charset="-122"/>
                <a:cs typeface="Courier New" pitchFamily="34" charset="-120"/>
              </a:rPr>
              <a:t>TRY IT</a:t>
            </a:r>
            <a:endParaRPr lang="en-US" sz="1000" dirty="0"/>
          </a:p>
        </p:txBody>
      </p:sp>
      <p:sp>
        <p:nvSpPr>
          <p:cNvPr id="7" name="Shape 5"/>
          <p:cNvSpPr/>
          <p:nvPr/>
        </p:nvSpPr>
        <p:spPr>
          <a:xfrm>
            <a:off x="2377440" y="4754880"/>
            <a:ext cx="1371600" cy="292608"/>
          </a:xfrm>
          <a:prstGeom prst="roundRect">
            <a:avLst>
              <a:gd name="adj" fmla="val 50000"/>
            </a:avLst>
          </a:prstGeom>
          <a:solidFill>
            <a:srgbClr val="14171C"/>
          </a:solidFill>
          <a:ln w="12700">
            <a:solidFill>
              <a:srgbClr val="F5F7FA"/>
            </a:solidFill>
            <a:prstDash val="solid"/>
          </a:ln>
        </p:spPr>
      </p:sp>
      <p:sp>
        <p:nvSpPr>
          <p:cNvPr id="8" name="Text 6"/>
          <p:cNvSpPr/>
          <p:nvPr/>
        </p:nvSpPr>
        <p:spPr>
          <a:xfrm>
            <a:off x="2377440" y="4754880"/>
            <a:ext cx="1371600" cy="292608"/>
          </a:xfrm>
          <a:prstGeom prst="rect">
            <a:avLst/>
          </a:prstGeom>
          <a:noFill/>
          <a:ln/>
        </p:spPr>
        <p:txBody>
          <a:bodyPr wrap="square" lIns="0" tIns="0" rIns="0" bIns="0" rtlCol="0" anchor="ctr"/>
          <a:lstStyle/>
          <a:p>
            <a:pPr algn="ctr" indent="0" marL="0">
              <a:buNone/>
            </a:pPr>
            <a:r>
              <a:rPr lang="en-US" sz="1000" b="1" spc="100" kern="0" dirty="0">
                <a:solidFill>
                  <a:srgbClr val="F5F7FA"/>
                </a:solidFill>
                <a:latin typeface="Courier New" pitchFamily="34" charset="0"/>
                <a:ea typeface="Courier New" pitchFamily="34" charset="-122"/>
                <a:cs typeface="Courier New" pitchFamily="34" charset="-120"/>
              </a:rPr>
              <a:t>GITHUB</a:t>
            </a:r>
            <a:endParaRPr lang="en-US" sz="1000" dirty="0"/>
          </a:p>
        </p:txBody>
      </p:sp>
      <p:sp>
        <p:nvSpPr>
          <p:cNvPr id="9" name="Shape 7"/>
          <p:cNvSpPr/>
          <p:nvPr/>
        </p:nvSpPr>
        <p:spPr>
          <a:xfrm>
            <a:off x="3886200" y="4754880"/>
            <a:ext cx="1371600" cy="292608"/>
          </a:xfrm>
          <a:prstGeom prst="roundRect">
            <a:avLst>
              <a:gd name="adj" fmla="val 50000"/>
            </a:avLst>
          </a:prstGeom>
          <a:solidFill>
            <a:srgbClr val="14171C"/>
          </a:solidFill>
          <a:ln w="12700">
            <a:solidFill>
              <a:srgbClr val="9D6BFF"/>
            </a:solidFill>
            <a:prstDash val="solid"/>
          </a:ln>
        </p:spPr>
      </p:sp>
      <p:sp>
        <p:nvSpPr>
          <p:cNvPr id="10" name="Text 8"/>
          <p:cNvSpPr/>
          <p:nvPr/>
        </p:nvSpPr>
        <p:spPr>
          <a:xfrm>
            <a:off x="3886200" y="4754880"/>
            <a:ext cx="1371600" cy="292608"/>
          </a:xfrm>
          <a:prstGeom prst="rect">
            <a:avLst/>
          </a:prstGeom>
          <a:noFill/>
          <a:ln/>
        </p:spPr>
        <p:txBody>
          <a:bodyPr wrap="square" lIns="0" tIns="0" rIns="0" bIns="0" rtlCol="0" anchor="ctr"/>
          <a:lstStyle/>
          <a:p>
            <a:pPr algn="ctr" indent="0" marL="0">
              <a:buNone/>
            </a:pPr>
            <a:r>
              <a:rPr lang="en-US" sz="1000" b="1" spc="100" kern="0" dirty="0">
                <a:solidFill>
                  <a:srgbClr val="9D6BFF"/>
                </a:solidFill>
                <a:latin typeface="Courier New" pitchFamily="34" charset="0"/>
                <a:ea typeface="Courier New" pitchFamily="34" charset="-122"/>
                <a:cs typeface="Courier New" pitchFamily="34" charset="-120"/>
              </a:rPr>
              <a:t>SOLSCAN</a:t>
            </a:r>
            <a:endParaRPr lang="en-US" sz="1000" dirty="0"/>
          </a:p>
        </p:txBody>
      </p:sp>
      <p:sp>
        <p:nvSpPr>
          <p:cNvPr id="11" name="Text 9"/>
          <p:cNvSpPr/>
          <p:nvPr/>
        </p:nvSpPr>
        <p:spPr>
          <a:xfrm>
            <a:off x="868680" y="6035040"/>
            <a:ext cx="8229600" cy="274320"/>
          </a:xfrm>
          <a:prstGeom prst="rect">
            <a:avLst/>
          </a:prstGeom>
          <a:noFill/>
          <a:ln/>
        </p:spPr>
        <p:txBody>
          <a:bodyPr wrap="square" lIns="0" tIns="0" rIns="0" bIns="0" rtlCol="0" anchor="ctr"/>
          <a:lstStyle/>
          <a:p>
            <a:pPr indent="0" marL="0">
              <a:buNone/>
            </a:pPr>
            <a:r>
              <a:rPr lang="en-US" sz="1000" dirty="0">
                <a:solidFill>
                  <a:srgbClr val="97A0AF"/>
                </a:solidFill>
                <a:latin typeface="Arial" pitchFamily="34" charset="0"/>
                <a:ea typeface="Arial" pitchFamily="34" charset="-122"/>
                <a:cs typeface="Arial" pitchFamily="34" charset="-120"/>
              </a:rPr>
              <a:t>Ninety is free to play. Credits are play money and have no cash value.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Ninety — a live football exchange on Solana</dc:title>
  <dc:subject>PptxGenJS Presentation</dc:subject>
  <dc:creator>Ninety</dc:creator>
  <cp:lastModifiedBy>Ninety</cp:lastModifiedBy>
  <cp:revision>1</cp:revision>
  <dcterms:created xsi:type="dcterms:W3CDTF">2026-07-13T16:01:17Z</dcterms:created>
  <dcterms:modified xsi:type="dcterms:W3CDTF">2026-07-13T16:01:17Z</dcterms:modified>
</cp:coreProperties>
</file>